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2918400" cy="21945600"/>
  <p:notesSz cx="7315200" cy="9601200"/>
  <p:defaultTextStyle>
    <a:defPPr>
      <a:defRPr lang="en-US"/>
    </a:defPPr>
    <a:lvl1pPr algn="ctr" rtl="0" fontAlgn="base">
      <a:spcBef>
        <a:spcPct val="0"/>
      </a:spcBef>
      <a:spcAft>
        <a:spcPct val="0"/>
      </a:spcAft>
      <a:defRPr sz="6100" kern="1200">
        <a:solidFill>
          <a:schemeClr val="tx1"/>
        </a:solidFill>
        <a:latin typeface="Arial" charset="0"/>
        <a:ea typeface="+mn-ea"/>
        <a:cs typeface="+mn-cs"/>
      </a:defRPr>
    </a:lvl1pPr>
    <a:lvl2pPr marL="326532" algn="ctr" rtl="0" fontAlgn="base">
      <a:spcBef>
        <a:spcPct val="0"/>
      </a:spcBef>
      <a:spcAft>
        <a:spcPct val="0"/>
      </a:spcAft>
      <a:defRPr sz="6100" kern="1200">
        <a:solidFill>
          <a:schemeClr val="tx1"/>
        </a:solidFill>
        <a:latin typeface="Arial" charset="0"/>
        <a:ea typeface="+mn-ea"/>
        <a:cs typeface="+mn-cs"/>
      </a:defRPr>
    </a:lvl2pPr>
    <a:lvl3pPr marL="653064" algn="ctr" rtl="0" fontAlgn="base">
      <a:spcBef>
        <a:spcPct val="0"/>
      </a:spcBef>
      <a:spcAft>
        <a:spcPct val="0"/>
      </a:spcAft>
      <a:defRPr sz="6100" kern="1200">
        <a:solidFill>
          <a:schemeClr val="tx1"/>
        </a:solidFill>
        <a:latin typeface="Arial" charset="0"/>
        <a:ea typeface="+mn-ea"/>
        <a:cs typeface="+mn-cs"/>
      </a:defRPr>
    </a:lvl3pPr>
    <a:lvl4pPr marL="979597" algn="ctr" rtl="0" fontAlgn="base">
      <a:spcBef>
        <a:spcPct val="0"/>
      </a:spcBef>
      <a:spcAft>
        <a:spcPct val="0"/>
      </a:spcAft>
      <a:defRPr sz="6100" kern="1200">
        <a:solidFill>
          <a:schemeClr val="tx1"/>
        </a:solidFill>
        <a:latin typeface="Arial" charset="0"/>
        <a:ea typeface="+mn-ea"/>
        <a:cs typeface="+mn-cs"/>
      </a:defRPr>
    </a:lvl4pPr>
    <a:lvl5pPr marL="1306129" algn="ctr" rtl="0" fontAlgn="base">
      <a:spcBef>
        <a:spcPct val="0"/>
      </a:spcBef>
      <a:spcAft>
        <a:spcPct val="0"/>
      </a:spcAft>
      <a:defRPr sz="6100" kern="1200">
        <a:solidFill>
          <a:schemeClr val="tx1"/>
        </a:solidFill>
        <a:latin typeface="Arial" charset="0"/>
        <a:ea typeface="+mn-ea"/>
        <a:cs typeface="+mn-cs"/>
      </a:defRPr>
    </a:lvl5pPr>
    <a:lvl6pPr marL="1632661" algn="l" defTabSz="653064" rtl="0" eaLnBrk="1" latinLnBrk="0" hangingPunct="1">
      <a:defRPr sz="6100" kern="1200">
        <a:solidFill>
          <a:schemeClr val="tx1"/>
        </a:solidFill>
        <a:latin typeface="Arial" charset="0"/>
        <a:ea typeface="+mn-ea"/>
        <a:cs typeface="+mn-cs"/>
      </a:defRPr>
    </a:lvl6pPr>
    <a:lvl7pPr marL="1959193" algn="l" defTabSz="653064" rtl="0" eaLnBrk="1" latinLnBrk="0" hangingPunct="1">
      <a:defRPr sz="6100" kern="1200">
        <a:solidFill>
          <a:schemeClr val="tx1"/>
        </a:solidFill>
        <a:latin typeface="Arial" charset="0"/>
        <a:ea typeface="+mn-ea"/>
        <a:cs typeface="+mn-cs"/>
      </a:defRPr>
    </a:lvl7pPr>
    <a:lvl8pPr marL="2285726" algn="l" defTabSz="653064" rtl="0" eaLnBrk="1" latinLnBrk="0" hangingPunct="1">
      <a:defRPr sz="6100" kern="1200">
        <a:solidFill>
          <a:schemeClr val="tx1"/>
        </a:solidFill>
        <a:latin typeface="Arial" charset="0"/>
        <a:ea typeface="+mn-ea"/>
        <a:cs typeface="+mn-cs"/>
      </a:defRPr>
    </a:lvl8pPr>
    <a:lvl9pPr marL="2612258" algn="l" defTabSz="653064" rtl="0" eaLnBrk="1" latinLnBrk="0" hangingPunct="1">
      <a:defRPr sz="61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224">
          <p15:clr>
            <a:srgbClr val="A4A3A4"/>
          </p15:clr>
        </p15:guide>
        <p15:guide id="2" orient="horz" pos="13464">
          <p15:clr>
            <a:srgbClr val="A4A3A4"/>
          </p15:clr>
        </p15:guide>
        <p15:guide id="3" orient="horz" pos="1432">
          <p15:clr>
            <a:srgbClr val="A4A3A4"/>
          </p15:clr>
        </p15:guide>
        <p15:guide id="4"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745"/>
    <a:srgbClr val="FFFF99"/>
    <a:srgbClr val="FFCC99"/>
    <a:srgbClr val="FFCC00"/>
    <a:srgbClr val="FF7979"/>
    <a:srgbClr val="FFF98B"/>
    <a:srgbClr val="DDDDDD"/>
    <a:srgbClr val="FFE285"/>
    <a:srgbClr val="FFF48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50000" autoAdjust="0"/>
  </p:normalViewPr>
  <p:slideViewPr>
    <p:cSldViewPr snapToGrid="0">
      <p:cViewPr varScale="1">
        <p:scale>
          <a:sx n="26" d="100"/>
          <a:sy n="26" d="100"/>
        </p:scale>
        <p:origin x="1572" y="55"/>
      </p:cViewPr>
      <p:guideLst>
        <p:guide orient="horz" pos="3224"/>
        <p:guide orient="horz" pos="13464"/>
        <p:guide orient="horz" pos="1432"/>
        <p:guide pos="103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l">
              <a:defRPr sz="1200"/>
            </a:lvl1pPr>
          </a:lstStyle>
          <a:p>
            <a:endParaRPr lang="en-US" dirty="0"/>
          </a:p>
        </p:txBody>
      </p:sp>
      <p:sp>
        <p:nvSpPr>
          <p:cNvPr id="3075" name="Rectangle 3"/>
          <p:cNvSpPr>
            <a:spLocks noGrp="1" noChangeArrowheads="1"/>
          </p:cNvSpPr>
          <p:nvPr>
            <p:ph type="dt" idx="1"/>
          </p:nvPr>
        </p:nvSpPr>
        <p:spPr bwMode="auto">
          <a:xfrm>
            <a:off x="4143551" y="1"/>
            <a:ext cx="3169920" cy="480061"/>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lvl1pPr algn="r">
              <a:defRPr sz="1200"/>
            </a:lvl1pPr>
          </a:lstStyle>
          <a:p>
            <a:endParaRPr lang="en-US" dirty="0"/>
          </a:p>
        </p:txBody>
      </p:sp>
      <p:sp>
        <p:nvSpPr>
          <p:cNvPr id="3076" name="Rectangle 4"/>
          <p:cNvSpPr>
            <a:spLocks noGrp="1" noRot="1" noChangeAspect="1" noChangeArrowheads="1" noTextEdit="1"/>
          </p:cNvSpPr>
          <p:nvPr>
            <p:ph type="sldImg" idx="2"/>
          </p:nvPr>
        </p:nvSpPr>
        <p:spPr bwMode="auto">
          <a:xfrm>
            <a:off x="957263" y="719138"/>
            <a:ext cx="5402262" cy="360045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731520" y="4561395"/>
            <a:ext cx="5852160" cy="4320540"/>
          </a:xfrm>
          <a:prstGeom prst="rect">
            <a:avLst/>
          </a:prstGeom>
          <a:noFill/>
          <a:ln w="9525">
            <a:noFill/>
            <a:miter lim="800000"/>
            <a:headEnd/>
            <a:tailEnd/>
          </a:ln>
          <a:effectLst/>
        </p:spPr>
        <p:txBody>
          <a:bodyPr vert="horz" wrap="square" lIns="96902" tIns="48451" rIns="96902" bIns="484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l">
              <a:defRPr sz="1200"/>
            </a:lvl1pPr>
          </a:lstStyle>
          <a:p>
            <a:endParaRPr lang="en-US" dirty="0"/>
          </a:p>
        </p:txBody>
      </p:sp>
      <p:sp>
        <p:nvSpPr>
          <p:cNvPr id="3079" name="Rectangle 7"/>
          <p:cNvSpPr>
            <a:spLocks noGrp="1" noChangeArrowheads="1"/>
          </p:cNvSpPr>
          <p:nvPr>
            <p:ph type="sldNum" sz="quarter" idx="5"/>
          </p:nvPr>
        </p:nvSpPr>
        <p:spPr bwMode="auto">
          <a:xfrm>
            <a:off x="4143551" y="9119491"/>
            <a:ext cx="3169920" cy="480061"/>
          </a:xfrm>
          <a:prstGeom prst="rect">
            <a:avLst/>
          </a:prstGeom>
          <a:noFill/>
          <a:ln w="9525">
            <a:noFill/>
            <a:miter lim="800000"/>
            <a:headEnd/>
            <a:tailEnd/>
          </a:ln>
          <a:effectLst/>
        </p:spPr>
        <p:txBody>
          <a:bodyPr vert="horz" wrap="square" lIns="96902" tIns="48451" rIns="96902" bIns="48451" numCol="1" anchor="b" anchorCtr="0" compatLnSpc="1">
            <a:prstTxWarp prst="textNoShape">
              <a:avLst/>
            </a:prstTxWarp>
          </a:bodyPr>
          <a:lstStyle>
            <a:lvl1pPr algn="r">
              <a:defRPr sz="1200"/>
            </a:lvl1pPr>
          </a:lstStyle>
          <a:p>
            <a:fld id="{7FB84CA5-7362-492D-8EBC-472296314F28}" type="slidenum">
              <a:rPr lang="en-US"/>
              <a:pPr/>
              <a:t>‹#›</a:t>
            </a:fld>
            <a:endParaRPr lang="en-US" dirty="0"/>
          </a:p>
        </p:txBody>
      </p:sp>
    </p:spTree>
    <p:extLst>
      <p:ext uri="{BB962C8B-B14F-4D97-AF65-F5344CB8AC3E}">
        <p14:creationId xmlns:p14="http://schemas.microsoft.com/office/powerpoint/2010/main" val="29468225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900" kern="1200">
        <a:solidFill>
          <a:schemeClr val="tx1"/>
        </a:solidFill>
        <a:latin typeface="Arial" charset="0"/>
        <a:ea typeface="+mn-ea"/>
        <a:cs typeface="+mn-cs"/>
      </a:defRPr>
    </a:lvl1pPr>
    <a:lvl2pPr marL="326532" algn="l" rtl="0" fontAlgn="base">
      <a:spcBef>
        <a:spcPct val="30000"/>
      </a:spcBef>
      <a:spcAft>
        <a:spcPct val="0"/>
      </a:spcAft>
      <a:defRPr sz="900" kern="1200">
        <a:solidFill>
          <a:schemeClr val="tx1"/>
        </a:solidFill>
        <a:latin typeface="Arial" charset="0"/>
        <a:ea typeface="+mn-ea"/>
        <a:cs typeface="+mn-cs"/>
      </a:defRPr>
    </a:lvl2pPr>
    <a:lvl3pPr marL="653064" algn="l" rtl="0" fontAlgn="base">
      <a:spcBef>
        <a:spcPct val="30000"/>
      </a:spcBef>
      <a:spcAft>
        <a:spcPct val="0"/>
      </a:spcAft>
      <a:defRPr sz="900" kern="1200">
        <a:solidFill>
          <a:schemeClr val="tx1"/>
        </a:solidFill>
        <a:latin typeface="Arial" charset="0"/>
        <a:ea typeface="+mn-ea"/>
        <a:cs typeface="+mn-cs"/>
      </a:defRPr>
    </a:lvl3pPr>
    <a:lvl4pPr marL="979597" algn="l" rtl="0" fontAlgn="base">
      <a:spcBef>
        <a:spcPct val="30000"/>
      </a:spcBef>
      <a:spcAft>
        <a:spcPct val="0"/>
      </a:spcAft>
      <a:defRPr sz="900" kern="1200">
        <a:solidFill>
          <a:schemeClr val="tx1"/>
        </a:solidFill>
        <a:latin typeface="Arial" charset="0"/>
        <a:ea typeface="+mn-ea"/>
        <a:cs typeface="+mn-cs"/>
      </a:defRPr>
    </a:lvl4pPr>
    <a:lvl5pPr marL="1306129" algn="l" rtl="0" fontAlgn="base">
      <a:spcBef>
        <a:spcPct val="30000"/>
      </a:spcBef>
      <a:spcAft>
        <a:spcPct val="0"/>
      </a:spcAft>
      <a:defRPr sz="900" kern="1200">
        <a:solidFill>
          <a:schemeClr val="tx1"/>
        </a:solidFill>
        <a:latin typeface="Arial" charset="0"/>
        <a:ea typeface="+mn-ea"/>
        <a:cs typeface="+mn-cs"/>
      </a:defRPr>
    </a:lvl5pPr>
    <a:lvl6pPr marL="1632661" algn="l" defTabSz="653064" rtl="0" eaLnBrk="1" latinLnBrk="0" hangingPunct="1">
      <a:defRPr sz="900" kern="1200">
        <a:solidFill>
          <a:schemeClr val="tx1"/>
        </a:solidFill>
        <a:latin typeface="+mn-lt"/>
        <a:ea typeface="+mn-ea"/>
        <a:cs typeface="+mn-cs"/>
      </a:defRPr>
    </a:lvl6pPr>
    <a:lvl7pPr marL="1959193" algn="l" defTabSz="653064" rtl="0" eaLnBrk="1" latinLnBrk="0" hangingPunct="1">
      <a:defRPr sz="900" kern="1200">
        <a:solidFill>
          <a:schemeClr val="tx1"/>
        </a:solidFill>
        <a:latin typeface="+mn-lt"/>
        <a:ea typeface="+mn-ea"/>
        <a:cs typeface="+mn-cs"/>
      </a:defRPr>
    </a:lvl7pPr>
    <a:lvl8pPr marL="2285726" algn="l" defTabSz="653064" rtl="0" eaLnBrk="1" latinLnBrk="0" hangingPunct="1">
      <a:defRPr sz="900" kern="1200">
        <a:solidFill>
          <a:schemeClr val="tx1"/>
        </a:solidFill>
        <a:latin typeface="+mn-lt"/>
        <a:ea typeface="+mn-ea"/>
        <a:cs typeface="+mn-cs"/>
      </a:defRPr>
    </a:lvl8pPr>
    <a:lvl9pPr marL="2612258" algn="l" defTabSz="653064"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4D40FB-8398-4C90-906C-C9755161D6CD}" type="slidenum">
              <a:rPr lang="en-US"/>
              <a:pPr/>
              <a:t>1</a:t>
            </a:fld>
            <a:endParaRPr lang="en-US"/>
          </a:p>
        </p:txBody>
      </p:sp>
      <p:sp>
        <p:nvSpPr>
          <p:cNvPr id="4098" name="Rectangle 2"/>
          <p:cNvSpPr>
            <a:spLocks noGrp="1" noRot="1" noChangeAspect="1" noChangeArrowheads="1" noTextEdit="1"/>
          </p:cNvSpPr>
          <p:nvPr>
            <p:ph type="sldImg"/>
          </p:nvPr>
        </p:nvSpPr>
        <p:spPr>
          <a:xfrm>
            <a:off x="957263" y="719138"/>
            <a:ext cx="5402262" cy="3600450"/>
          </a:xfrm>
          <a:ln/>
        </p:spPr>
      </p:sp>
      <p:sp>
        <p:nvSpPr>
          <p:cNvPr id="40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482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26871335" y="21597091"/>
            <a:ext cx="3106340" cy="14181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userDrawn="1"/>
        </p:nvSpPr>
        <p:spPr>
          <a:xfrm>
            <a:off x="30012268" y="21539200"/>
            <a:ext cx="1653137" cy="235221"/>
          </a:xfrm>
          <a:prstGeom prst="rect">
            <a:avLst/>
          </a:prstGeom>
          <a:noFill/>
        </p:spPr>
        <p:txBody>
          <a:bodyPr wrap="none" lIns="65306" tIns="32653" rIns="65306" bIns="32653" rtlCol="0">
            <a:spAutoFit/>
          </a:bodyPr>
          <a:lstStyle/>
          <a:p>
            <a:r>
              <a:rPr lang="en-US" sz="1100" dirty="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3134937" rtl="0" fontAlgn="base">
        <a:spcBef>
          <a:spcPct val="0"/>
        </a:spcBef>
        <a:spcAft>
          <a:spcPct val="0"/>
        </a:spcAft>
        <a:defRPr sz="15100">
          <a:solidFill>
            <a:schemeClr val="tx2"/>
          </a:solidFill>
          <a:latin typeface="+mj-lt"/>
          <a:ea typeface="+mj-ea"/>
          <a:cs typeface="+mj-cs"/>
        </a:defRPr>
      </a:lvl1pPr>
      <a:lvl2pPr algn="ctr" defTabSz="3134937" rtl="0" fontAlgn="base">
        <a:spcBef>
          <a:spcPct val="0"/>
        </a:spcBef>
        <a:spcAft>
          <a:spcPct val="0"/>
        </a:spcAft>
        <a:defRPr sz="15100">
          <a:solidFill>
            <a:schemeClr val="tx2"/>
          </a:solidFill>
          <a:latin typeface="Arial" charset="0"/>
        </a:defRPr>
      </a:lvl2pPr>
      <a:lvl3pPr algn="ctr" defTabSz="3134937" rtl="0" fontAlgn="base">
        <a:spcBef>
          <a:spcPct val="0"/>
        </a:spcBef>
        <a:spcAft>
          <a:spcPct val="0"/>
        </a:spcAft>
        <a:defRPr sz="15100">
          <a:solidFill>
            <a:schemeClr val="tx2"/>
          </a:solidFill>
          <a:latin typeface="Arial" charset="0"/>
        </a:defRPr>
      </a:lvl3pPr>
      <a:lvl4pPr algn="ctr" defTabSz="3134937" rtl="0" fontAlgn="base">
        <a:spcBef>
          <a:spcPct val="0"/>
        </a:spcBef>
        <a:spcAft>
          <a:spcPct val="0"/>
        </a:spcAft>
        <a:defRPr sz="15100">
          <a:solidFill>
            <a:schemeClr val="tx2"/>
          </a:solidFill>
          <a:latin typeface="Arial" charset="0"/>
        </a:defRPr>
      </a:lvl4pPr>
      <a:lvl5pPr algn="ctr" defTabSz="3134937" rtl="0" fontAlgn="base">
        <a:spcBef>
          <a:spcPct val="0"/>
        </a:spcBef>
        <a:spcAft>
          <a:spcPct val="0"/>
        </a:spcAft>
        <a:defRPr sz="15100">
          <a:solidFill>
            <a:schemeClr val="tx2"/>
          </a:solidFill>
          <a:latin typeface="Arial" charset="0"/>
        </a:defRPr>
      </a:lvl5pPr>
      <a:lvl6pPr marL="326532" algn="ctr" defTabSz="3134937" rtl="0" fontAlgn="base">
        <a:spcBef>
          <a:spcPct val="0"/>
        </a:spcBef>
        <a:spcAft>
          <a:spcPct val="0"/>
        </a:spcAft>
        <a:defRPr sz="15100">
          <a:solidFill>
            <a:schemeClr val="tx2"/>
          </a:solidFill>
          <a:latin typeface="Arial" charset="0"/>
        </a:defRPr>
      </a:lvl6pPr>
      <a:lvl7pPr marL="653064" algn="ctr" defTabSz="3134937" rtl="0" fontAlgn="base">
        <a:spcBef>
          <a:spcPct val="0"/>
        </a:spcBef>
        <a:spcAft>
          <a:spcPct val="0"/>
        </a:spcAft>
        <a:defRPr sz="15100">
          <a:solidFill>
            <a:schemeClr val="tx2"/>
          </a:solidFill>
          <a:latin typeface="Arial" charset="0"/>
        </a:defRPr>
      </a:lvl7pPr>
      <a:lvl8pPr marL="979597" algn="ctr" defTabSz="3134937" rtl="0" fontAlgn="base">
        <a:spcBef>
          <a:spcPct val="0"/>
        </a:spcBef>
        <a:spcAft>
          <a:spcPct val="0"/>
        </a:spcAft>
        <a:defRPr sz="15100">
          <a:solidFill>
            <a:schemeClr val="tx2"/>
          </a:solidFill>
          <a:latin typeface="Arial" charset="0"/>
        </a:defRPr>
      </a:lvl8pPr>
      <a:lvl9pPr marL="1306129" algn="ctr" defTabSz="3134937" rtl="0" fontAlgn="base">
        <a:spcBef>
          <a:spcPct val="0"/>
        </a:spcBef>
        <a:spcAft>
          <a:spcPct val="0"/>
        </a:spcAft>
        <a:defRPr sz="15100">
          <a:solidFill>
            <a:schemeClr val="tx2"/>
          </a:solidFill>
          <a:latin typeface="Arial" charset="0"/>
        </a:defRPr>
      </a:lvl9pPr>
    </p:titleStyle>
    <p:bodyStyle>
      <a:lvl1pPr marL="1175743" indent="-1175743" algn="l" defTabSz="3134937" rtl="0" fontAlgn="base">
        <a:spcBef>
          <a:spcPct val="20000"/>
        </a:spcBef>
        <a:spcAft>
          <a:spcPct val="0"/>
        </a:spcAft>
        <a:buChar char="•"/>
        <a:defRPr sz="11000">
          <a:solidFill>
            <a:schemeClr val="tx1"/>
          </a:solidFill>
          <a:latin typeface="+mn-lt"/>
          <a:ea typeface="+mn-ea"/>
          <a:cs typeface="+mn-cs"/>
        </a:defRPr>
      </a:lvl1pPr>
      <a:lvl2pPr marL="2546498" indent="-979597" algn="l" defTabSz="3134937" rtl="0" fontAlgn="base">
        <a:spcBef>
          <a:spcPct val="20000"/>
        </a:spcBef>
        <a:spcAft>
          <a:spcPct val="0"/>
        </a:spcAft>
        <a:buChar char="–"/>
        <a:defRPr sz="9600">
          <a:solidFill>
            <a:schemeClr val="tx1"/>
          </a:solidFill>
          <a:latin typeface="+mn-lt"/>
        </a:defRPr>
      </a:lvl2pPr>
      <a:lvl3pPr marL="3918387" indent="-783451" algn="l" defTabSz="3134937" rtl="0" fontAlgn="base">
        <a:spcBef>
          <a:spcPct val="20000"/>
        </a:spcBef>
        <a:spcAft>
          <a:spcPct val="0"/>
        </a:spcAft>
        <a:buChar char="•"/>
        <a:defRPr sz="8200">
          <a:solidFill>
            <a:schemeClr val="tx1"/>
          </a:solidFill>
          <a:latin typeface="+mn-lt"/>
        </a:defRPr>
      </a:lvl3pPr>
      <a:lvl4pPr marL="5485288" indent="-783451" algn="l" defTabSz="3134937" rtl="0" fontAlgn="base">
        <a:spcBef>
          <a:spcPct val="20000"/>
        </a:spcBef>
        <a:spcAft>
          <a:spcPct val="0"/>
        </a:spcAft>
        <a:buChar char="–"/>
        <a:defRPr sz="6900">
          <a:solidFill>
            <a:schemeClr val="tx1"/>
          </a:solidFill>
          <a:latin typeface="+mn-lt"/>
        </a:defRPr>
      </a:lvl4pPr>
      <a:lvl5pPr marL="7053323" indent="-783451" algn="l" defTabSz="3134937" rtl="0" fontAlgn="base">
        <a:spcBef>
          <a:spcPct val="20000"/>
        </a:spcBef>
        <a:spcAft>
          <a:spcPct val="0"/>
        </a:spcAft>
        <a:buChar char="»"/>
        <a:defRPr sz="6900">
          <a:solidFill>
            <a:schemeClr val="tx1"/>
          </a:solidFill>
          <a:latin typeface="+mn-lt"/>
        </a:defRPr>
      </a:lvl5pPr>
      <a:lvl6pPr marL="7379856" indent="-783451" algn="l" defTabSz="3134937" rtl="0" fontAlgn="base">
        <a:spcBef>
          <a:spcPct val="20000"/>
        </a:spcBef>
        <a:spcAft>
          <a:spcPct val="0"/>
        </a:spcAft>
        <a:buChar char="»"/>
        <a:defRPr sz="6900">
          <a:solidFill>
            <a:schemeClr val="tx1"/>
          </a:solidFill>
          <a:latin typeface="+mn-lt"/>
        </a:defRPr>
      </a:lvl6pPr>
      <a:lvl7pPr marL="7706388" indent="-783451" algn="l" defTabSz="3134937" rtl="0" fontAlgn="base">
        <a:spcBef>
          <a:spcPct val="20000"/>
        </a:spcBef>
        <a:spcAft>
          <a:spcPct val="0"/>
        </a:spcAft>
        <a:buChar char="»"/>
        <a:defRPr sz="6900">
          <a:solidFill>
            <a:schemeClr val="tx1"/>
          </a:solidFill>
          <a:latin typeface="+mn-lt"/>
        </a:defRPr>
      </a:lvl7pPr>
      <a:lvl8pPr marL="8032920" indent="-783451" algn="l" defTabSz="3134937" rtl="0" fontAlgn="base">
        <a:spcBef>
          <a:spcPct val="20000"/>
        </a:spcBef>
        <a:spcAft>
          <a:spcPct val="0"/>
        </a:spcAft>
        <a:buChar char="»"/>
        <a:defRPr sz="6900">
          <a:solidFill>
            <a:schemeClr val="tx1"/>
          </a:solidFill>
          <a:latin typeface="+mn-lt"/>
        </a:defRPr>
      </a:lvl8pPr>
      <a:lvl9pPr marL="8359452" indent="-783451" algn="l" defTabSz="3134937" rtl="0" fontAlgn="base">
        <a:spcBef>
          <a:spcPct val="20000"/>
        </a:spcBef>
        <a:spcAft>
          <a:spcPct val="0"/>
        </a:spcAft>
        <a:buChar char="»"/>
        <a:defRPr sz="6900">
          <a:solidFill>
            <a:schemeClr val="tx1"/>
          </a:solidFill>
          <a:latin typeface="+mn-lt"/>
        </a:defRPr>
      </a:lvl9pPr>
    </p:bodyStyle>
    <p:otherStyle>
      <a:defPPr>
        <a:defRPr lang="en-US"/>
      </a:defPPr>
      <a:lvl1pPr marL="0" algn="l" defTabSz="653064" rtl="0" eaLnBrk="1" latinLnBrk="0" hangingPunct="1">
        <a:defRPr sz="1300" kern="1200">
          <a:solidFill>
            <a:schemeClr val="tx1"/>
          </a:solidFill>
          <a:latin typeface="+mn-lt"/>
          <a:ea typeface="+mn-ea"/>
          <a:cs typeface="+mn-cs"/>
        </a:defRPr>
      </a:lvl1pPr>
      <a:lvl2pPr marL="326532" algn="l" defTabSz="653064" rtl="0" eaLnBrk="1" latinLnBrk="0" hangingPunct="1">
        <a:defRPr sz="1300" kern="1200">
          <a:solidFill>
            <a:schemeClr val="tx1"/>
          </a:solidFill>
          <a:latin typeface="+mn-lt"/>
          <a:ea typeface="+mn-ea"/>
          <a:cs typeface="+mn-cs"/>
        </a:defRPr>
      </a:lvl2pPr>
      <a:lvl3pPr marL="653064" algn="l" defTabSz="653064" rtl="0" eaLnBrk="1" latinLnBrk="0" hangingPunct="1">
        <a:defRPr sz="1300" kern="1200">
          <a:solidFill>
            <a:schemeClr val="tx1"/>
          </a:solidFill>
          <a:latin typeface="+mn-lt"/>
          <a:ea typeface="+mn-ea"/>
          <a:cs typeface="+mn-cs"/>
        </a:defRPr>
      </a:lvl3pPr>
      <a:lvl4pPr marL="979597" algn="l" defTabSz="653064" rtl="0" eaLnBrk="1" latinLnBrk="0" hangingPunct="1">
        <a:defRPr sz="1300" kern="1200">
          <a:solidFill>
            <a:schemeClr val="tx1"/>
          </a:solidFill>
          <a:latin typeface="+mn-lt"/>
          <a:ea typeface="+mn-ea"/>
          <a:cs typeface="+mn-cs"/>
        </a:defRPr>
      </a:lvl4pPr>
      <a:lvl5pPr marL="1306129" algn="l" defTabSz="653064" rtl="0" eaLnBrk="1" latinLnBrk="0" hangingPunct="1">
        <a:defRPr sz="1300" kern="1200">
          <a:solidFill>
            <a:schemeClr val="tx1"/>
          </a:solidFill>
          <a:latin typeface="+mn-lt"/>
          <a:ea typeface="+mn-ea"/>
          <a:cs typeface="+mn-cs"/>
        </a:defRPr>
      </a:lvl5pPr>
      <a:lvl6pPr marL="1632661" algn="l" defTabSz="653064" rtl="0" eaLnBrk="1" latinLnBrk="0" hangingPunct="1">
        <a:defRPr sz="1300" kern="1200">
          <a:solidFill>
            <a:schemeClr val="tx1"/>
          </a:solidFill>
          <a:latin typeface="+mn-lt"/>
          <a:ea typeface="+mn-ea"/>
          <a:cs typeface="+mn-cs"/>
        </a:defRPr>
      </a:lvl6pPr>
      <a:lvl7pPr marL="1959193" algn="l" defTabSz="653064" rtl="0" eaLnBrk="1" latinLnBrk="0" hangingPunct="1">
        <a:defRPr sz="1300" kern="1200">
          <a:solidFill>
            <a:schemeClr val="tx1"/>
          </a:solidFill>
          <a:latin typeface="+mn-lt"/>
          <a:ea typeface="+mn-ea"/>
          <a:cs typeface="+mn-cs"/>
        </a:defRPr>
      </a:lvl7pPr>
      <a:lvl8pPr marL="2285726" algn="l" defTabSz="653064" rtl="0" eaLnBrk="1" latinLnBrk="0" hangingPunct="1">
        <a:defRPr sz="1300" kern="1200">
          <a:solidFill>
            <a:schemeClr val="tx1"/>
          </a:solidFill>
          <a:latin typeface="+mn-lt"/>
          <a:ea typeface="+mn-ea"/>
          <a:cs typeface="+mn-cs"/>
        </a:defRPr>
      </a:lvl8pPr>
      <a:lvl9pPr marL="2612258" algn="l" defTabSz="653064"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chemeClr val="bg1">
                <a:lumMod val="75000"/>
              </a:schemeClr>
            </a:gs>
            <a:gs pos="0">
              <a:schemeClr val="bg1">
                <a:lumMod val="75000"/>
              </a:schemeClr>
            </a:gs>
            <a:gs pos="100000">
              <a:srgbClr val="FFC000"/>
            </a:gs>
          </a:gsLst>
          <a:lin ang="5400000" scaled="1"/>
          <a:tileRect/>
        </a:gradFill>
        <a:effectLst/>
      </p:bgPr>
    </p:bg>
    <p:spTree>
      <p:nvGrpSpPr>
        <p:cNvPr id="1" name=""/>
        <p:cNvGrpSpPr/>
        <p:nvPr/>
      </p:nvGrpSpPr>
      <p:grpSpPr>
        <a:xfrm>
          <a:off x="0" y="0"/>
          <a:ext cx="0" cy="0"/>
          <a:chOff x="0" y="0"/>
          <a:chExt cx="0" cy="0"/>
        </a:xfrm>
      </p:grpSpPr>
      <p:sp>
        <p:nvSpPr>
          <p:cNvPr id="20" name="AutoShape 30"/>
          <p:cNvSpPr>
            <a:spLocks noChangeArrowheads="1"/>
          </p:cNvSpPr>
          <p:nvPr/>
        </p:nvSpPr>
        <p:spPr bwMode="auto">
          <a:xfrm>
            <a:off x="24717374" y="3761783"/>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a:p>
            <a:endParaRPr lang="en-US" sz="4400" b="1" dirty="0">
              <a:latin typeface="+mj-lt"/>
            </a:endParaRPr>
          </a:p>
        </p:txBody>
      </p:sp>
      <p:sp>
        <p:nvSpPr>
          <p:cNvPr id="21" name="AutoShape 29"/>
          <p:cNvSpPr>
            <a:spLocks noChangeArrowheads="1"/>
          </p:cNvSpPr>
          <p:nvPr/>
        </p:nvSpPr>
        <p:spPr bwMode="auto">
          <a:xfrm>
            <a:off x="8574548" y="3916759"/>
            <a:ext cx="7772400" cy="17659383"/>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2" name="AutoShape 31"/>
          <p:cNvSpPr>
            <a:spLocks noChangeArrowheads="1"/>
          </p:cNvSpPr>
          <p:nvPr/>
        </p:nvSpPr>
        <p:spPr bwMode="auto">
          <a:xfrm>
            <a:off x="16721384"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3" name="AutoShape 4"/>
          <p:cNvSpPr>
            <a:spLocks noChangeArrowheads="1"/>
          </p:cNvSpPr>
          <p:nvPr/>
        </p:nvSpPr>
        <p:spPr bwMode="auto">
          <a:xfrm>
            <a:off x="457200" y="3911341"/>
            <a:ext cx="7772400" cy="17612228"/>
          </a:xfrm>
          <a:prstGeom prst="roundRect">
            <a:avLst>
              <a:gd name="adj" fmla="val 7000"/>
            </a:avLst>
          </a:prstGeom>
          <a:solidFill>
            <a:schemeClr val="bg1"/>
          </a:solidFill>
          <a:ln w="9525">
            <a:solidFill>
              <a:schemeClr val="tx1"/>
            </a:solidFill>
            <a:round/>
            <a:headEnd/>
            <a:tailEnd/>
          </a:ln>
          <a:effectLst/>
        </p:spPr>
        <p:txBody>
          <a:bodyPr wrap="none" lIns="65306" tIns="32653" rIns="65306" bIns="32653" anchor="ctr"/>
          <a:lstStyle/>
          <a:p>
            <a:endParaRPr lang="en-US" dirty="0">
              <a:latin typeface="+mj-lt"/>
            </a:endParaRPr>
          </a:p>
        </p:txBody>
      </p:sp>
      <p:sp>
        <p:nvSpPr>
          <p:cNvPr id="2059" name="Text Box 11"/>
          <p:cNvSpPr txBox="1">
            <a:spLocks noChangeArrowheads="1"/>
          </p:cNvSpPr>
          <p:nvPr/>
        </p:nvSpPr>
        <p:spPr bwMode="auto">
          <a:xfrm>
            <a:off x="24942716" y="9764513"/>
            <a:ext cx="7372350" cy="896940"/>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5400" b="1" dirty="0">
                <a:latin typeface="+mj-lt"/>
              </a:rPr>
              <a:t>Conclusions</a:t>
            </a:r>
          </a:p>
        </p:txBody>
      </p:sp>
      <p:sp>
        <p:nvSpPr>
          <p:cNvPr id="2061" name="AutoShape 13"/>
          <p:cNvSpPr>
            <a:spLocks noChangeArrowheads="1"/>
          </p:cNvSpPr>
          <p:nvPr/>
        </p:nvSpPr>
        <p:spPr bwMode="auto">
          <a:xfrm>
            <a:off x="514350" y="254000"/>
            <a:ext cx="31889700" cy="3435134"/>
          </a:xfrm>
          <a:prstGeom prst="roundRect">
            <a:avLst>
              <a:gd name="adj" fmla="val 10870"/>
            </a:avLst>
          </a:prstGeom>
          <a:solidFill>
            <a:srgbClr val="FDE745"/>
          </a:solidFill>
          <a:ln>
            <a:headEnd/>
            <a:tailEnd/>
          </a:ln>
        </p:spPr>
        <p:style>
          <a:lnRef idx="1">
            <a:schemeClr val="accent5"/>
          </a:lnRef>
          <a:fillRef idx="3">
            <a:schemeClr val="accent5"/>
          </a:fillRef>
          <a:effectRef idx="2">
            <a:schemeClr val="accent5"/>
          </a:effectRef>
          <a:fontRef idx="minor">
            <a:schemeClr val="lt1"/>
          </a:fontRef>
        </p:style>
        <p:txBody>
          <a:bodyPr wrap="none" lIns="65306" tIns="32653" rIns="65306" bIns="32653" anchor="ctr"/>
          <a:lstStyle/>
          <a:p>
            <a:pPr defTabSz="3134937"/>
            <a:endParaRPr lang="en-US">
              <a:solidFill>
                <a:schemeClr val="bg1"/>
              </a:solidFill>
              <a:latin typeface="+mj-lt"/>
            </a:endParaRPr>
          </a:p>
        </p:txBody>
      </p:sp>
      <p:sp>
        <p:nvSpPr>
          <p:cNvPr id="2075" name="Text Box 27"/>
          <p:cNvSpPr txBox="1">
            <a:spLocks noChangeArrowheads="1"/>
          </p:cNvSpPr>
          <p:nvPr/>
        </p:nvSpPr>
        <p:spPr bwMode="auto">
          <a:xfrm>
            <a:off x="25514215" y="15213811"/>
            <a:ext cx="6229350" cy="681497"/>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4000" b="1" dirty="0">
                <a:latin typeface="+mj-lt"/>
              </a:rPr>
              <a:t>Bibliography</a:t>
            </a:r>
          </a:p>
        </p:txBody>
      </p:sp>
      <p:sp>
        <p:nvSpPr>
          <p:cNvPr id="2086" name="Text Box 38"/>
          <p:cNvSpPr txBox="1">
            <a:spLocks noChangeArrowheads="1"/>
          </p:cNvSpPr>
          <p:nvPr/>
        </p:nvSpPr>
        <p:spPr bwMode="auto">
          <a:xfrm>
            <a:off x="25467004" y="16008442"/>
            <a:ext cx="6604396" cy="5365569"/>
          </a:xfrm>
          <a:prstGeom prst="rect">
            <a:avLst/>
          </a:prstGeom>
          <a:noFill/>
          <a:ln w="57150" cmpd="thinThick">
            <a:noFill/>
            <a:miter lim="800000"/>
            <a:headEnd/>
            <a:tailEnd/>
          </a:ln>
          <a:effectLst/>
        </p:spPr>
        <p:txBody>
          <a:bodyPr wrap="square" lIns="43688" tIns="21843" rIns="43688" bIns="21843">
            <a:spAutoFit/>
          </a:bodyPr>
          <a:lstStyle/>
          <a:p>
            <a:pPr marL="244899" indent="-244899" algn="l" defTabSz="437644" eaLnBrk="0" hangingPunct="0">
              <a:lnSpc>
                <a:spcPct val="95000"/>
              </a:lnSpc>
              <a:buFontTx/>
              <a:buAutoNum type="arabicPeriod"/>
            </a:pPr>
            <a:r>
              <a:rPr lang="en-US" sz="2800" dirty="0" err="1"/>
              <a:t>Khodeir</a:t>
            </a:r>
            <a:r>
              <a:rPr lang="en-US" sz="2800" dirty="0"/>
              <a:t>, Nabila, and Fatma </a:t>
            </a:r>
            <a:r>
              <a:rPr lang="en-US" sz="2800" dirty="0" err="1"/>
              <a:t>Elghannam</a:t>
            </a:r>
            <a:r>
              <a:rPr lang="en-US" sz="2800" dirty="0"/>
              <a:t>. "Efficient topic identification for urgent MOOC Forum posts using </a:t>
            </a:r>
            <a:r>
              <a:rPr lang="en-US" sz="2800" dirty="0" err="1"/>
              <a:t>BERTopic</a:t>
            </a:r>
            <a:r>
              <a:rPr lang="en-US" sz="2800" dirty="0"/>
              <a:t> and traditional topic modeling techniques." </a:t>
            </a:r>
            <a:r>
              <a:rPr lang="en-US" sz="2800" i="1" dirty="0"/>
              <a:t>Education and Information Technologies</a:t>
            </a:r>
            <a:r>
              <a:rPr lang="en-US" sz="2800" dirty="0"/>
              <a:t> 30.5 (2025): 5501-5527.</a:t>
            </a:r>
          </a:p>
          <a:p>
            <a:pPr marL="244899" indent="-244899" algn="l" defTabSz="437644" eaLnBrk="0" hangingPunct="0">
              <a:lnSpc>
                <a:spcPct val="95000"/>
              </a:lnSpc>
              <a:buFontTx/>
              <a:buAutoNum type="arabicPeriod"/>
            </a:pPr>
            <a:r>
              <a:rPr lang="en-US" sz="2800" dirty="0"/>
              <a:t>Hill, Alessandro, Kalen Goo, and Puneet Agarwal. "Recommending the right academic programs: an interest mining approach using </a:t>
            </a:r>
            <a:r>
              <a:rPr lang="en-US" sz="2800" dirty="0" err="1"/>
              <a:t>BERTopic</a:t>
            </a:r>
            <a:r>
              <a:rPr lang="en-US" sz="2800" dirty="0"/>
              <a:t>." </a:t>
            </a:r>
            <a:r>
              <a:rPr lang="en-US" sz="2800" i="1" dirty="0"/>
              <a:t>Data Mining and Knowledge Discovery</a:t>
            </a:r>
            <a:r>
              <a:rPr lang="en-US" sz="2800" dirty="0"/>
              <a:t> 39.3 (2025): 1-40.</a:t>
            </a:r>
            <a:endParaRPr lang="en-US" sz="2800" b="1" dirty="0">
              <a:latin typeface="+mj-lt"/>
            </a:endParaRPr>
          </a:p>
        </p:txBody>
      </p:sp>
      <p:sp>
        <p:nvSpPr>
          <p:cNvPr id="2088" name="Text Box 40"/>
          <p:cNvSpPr txBox="1">
            <a:spLocks noChangeArrowheads="1"/>
          </p:cNvSpPr>
          <p:nvPr/>
        </p:nvSpPr>
        <p:spPr bwMode="auto">
          <a:xfrm>
            <a:off x="25135415" y="10827277"/>
            <a:ext cx="7267575" cy="2198549"/>
          </a:xfrm>
          <a:prstGeom prst="rect">
            <a:avLst/>
          </a:prstGeom>
          <a:noFill/>
          <a:ln w="57150" cmpd="thinThick">
            <a:noFill/>
            <a:miter lim="800000"/>
            <a:headEnd/>
            <a:tailEnd/>
          </a:ln>
          <a:effectLst/>
        </p:spPr>
        <p:txBody>
          <a:bodyPr lIns="43688" tIns="21843" rIns="43688" bIns="21843">
            <a:spAutoFit/>
          </a:bodyPr>
          <a:lstStyle/>
          <a:p>
            <a:pPr algn="l"/>
            <a:r>
              <a:rPr lang="en-US" sz="2800" dirty="0"/>
              <a:t>We were able to create a pipeline that is capable of determining the common characteristics between all high-paying computer science jobs across the website “Glassdoor.”</a:t>
            </a:r>
            <a:endParaRPr lang="en-US" sz="1400" dirty="0">
              <a:latin typeface="+mj-lt"/>
            </a:endParaRPr>
          </a:p>
        </p:txBody>
      </p:sp>
      <p:sp>
        <p:nvSpPr>
          <p:cNvPr id="24" name="Text Box 9"/>
          <p:cNvSpPr txBox="1">
            <a:spLocks noChangeArrowheads="1"/>
          </p:cNvSpPr>
          <p:nvPr/>
        </p:nvSpPr>
        <p:spPr bwMode="auto">
          <a:xfrm>
            <a:off x="777053" y="5428790"/>
            <a:ext cx="7334250" cy="2931344"/>
          </a:xfrm>
          <a:prstGeom prst="rect">
            <a:avLst/>
          </a:prstGeom>
          <a:noFill/>
          <a:ln w="9525">
            <a:noFill/>
            <a:miter lim="800000"/>
            <a:headEnd/>
            <a:tailEnd/>
          </a:ln>
          <a:effectLst/>
        </p:spPr>
        <p:txBody>
          <a:bodyPr lIns="65306" tIns="32653" rIns="65306" bIns="32653">
            <a:spAutoFit/>
          </a:bodyPr>
          <a:lstStyle/>
          <a:p>
            <a:pPr algn="l" defTabSz="4389438" eaLnBrk="0" hangingPunct="0">
              <a:lnSpc>
                <a:spcPct val="95000"/>
              </a:lnSpc>
            </a:pPr>
            <a:r>
              <a:rPr lang="en-US" sz="2800" dirty="0"/>
              <a:t>This project, the </a:t>
            </a:r>
            <a:r>
              <a:rPr lang="en-US" sz="2800" b="1" dirty="0" err="1"/>
              <a:t>Bertopic</a:t>
            </a:r>
            <a:r>
              <a:rPr lang="en-US" sz="2800" b="1" dirty="0"/>
              <a:t> Job Postings Analysis Project</a:t>
            </a:r>
            <a:r>
              <a:rPr lang="en-US" sz="2800" dirty="0"/>
              <a:t>, investigates the key characteristics, roles, and qualifications associated with </a:t>
            </a:r>
            <a:r>
              <a:rPr lang="en-US" sz="2800" b="1" dirty="0"/>
              <a:t>high-paying computer science jobs</a:t>
            </a:r>
            <a:r>
              <a:rPr lang="en-US" sz="2800" dirty="0"/>
              <a:t> by analyzing thousands of job descriptions scraped from major job boards like Glassdoor.</a:t>
            </a:r>
            <a:endParaRPr lang="en-US" sz="2800" dirty="0">
              <a:latin typeface="+mj-lt"/>
            </a:endParaRPr>
          </a:p>
        </p:txBody>
      </p:sp>
      <p:sp>
        <p:nvSpPr>
          <p:cNvPr id="26" name="Text Box 42"/>
          <p:cNvSpPr txBox="1">
            <a:spLocks noChangeArrowheads="1"/>
          </p:cNvSpPr>
          <p:nvPr/>
        </p:nvSpPr>
        <p:spPr bwMode="auto">
          <a:xfrm>
            <a:off x="700439" y="4191622"/>
            <a:ext cx="7372350" cy="896940"/>
          </a:xfrm>
          <a:prstGeom prst="rect">
            <a:avLst/>
          </a:prstGeom>
          <a:noFill/>
          <a:ln w="9525">
            <a:noFill/>
            <a:miter lim="800000"/>
            <a:headEnd/>
            <a:tailEnd/>
          </a:ln>
          <a:effectLst/>
        </p:spPr>
        <p:txBody>
          <a:bodyPr lIns="65306" tIns="32653" rIns="65306" bIns="32653">
            <a:spAutoFit/>
          </a:bodyPr>
          <a:lstStyle/>
          <a:p>
            <a:r>
              <a:rPr lang="en-US" sz="5400" b="1" dirty="0">
                <a:latin typeface="+mj-lt"/>
                <a:cs typeface="Times New Roman" pitchFamily="18" charset="0"/>
              </a:rPr>
              <a:t>Abstract</a:t>
            </a:r>
            <a:endParaRPr lang="en-US" sz="2400" dirty="0">
              <a:latin typeface="+mj-lt"/>
              <a:cs typeface="Times New Roman" pitchFamily="18" charset="0"/>
            </a:endParaRPr>
          </a:p>
        </p:txBody>
      </p:sp>
      <p:sp>
        <p:nvSpPr>
          <p:cNvPr id="27" name="Text Box 9"/>
          <p:cNvSpPr txBox="1">
            <a:spLocks noChangeArrowheads="1"/>
          </p:cNvSpPr>
          <p:nvPr/>
        </p:nvSpPr>
        <p:spPr bwMode="auto">
          <a:xfrm>
            <a:off x="25065259" y="14286093"/>
            <a:ext cx="7319961" cy="927718"/>
          </a:xfrm>
          <a:prstGeom prst="rect">
            <a:avLst/>
          </a:prstGeom>
          <a:noFill/>
          <a:ln w="9525">
            <a:noFill/>
            <a:miter lim="800000"/>
            <a:headEnd/>
            <a:tailEnd/>
          </a:ln>
          <a:effectLst/>
        </p:spPr>
        <p:txBody>
          <a:bodyPr wrap="square" lIns="65306" tIns="32653" rIns="65306" bIns="32653">
            <a:spAutoFit/>
          </a:bodyPr>
          <a:lstStyle/>
          <a:p>
            <a:pPr algn="l"/>
            <a:r>
              <a:rPr lang="en-US" sz="2800" dirty="0">
                <a:latin typeface="+mj-lt"/>
              </a:rPr>
              <a:t>Professors Pang and Wang: Supervisors of the project</a:t>
            </a:r>
          </a:p>
        </p:txBody>
      </p:sp>
      <p:sp>
        <p:nvSpPr>
          <p:cNvPr id="29" name="Text Box 9"/>
          <p:cNvSpPr txBox="1">
            <a:spLocks noChangeArrowheads="1"/>
          </p:cNvSpPr>
          <p:nvPr/>
        </p:nvSpPr>
        <p:spPr bwMode="auto">
          <a:xfrm>
            <a:off x="673377" y="13252876"/>
            <a:ext cx="7541601" cy="6124754"/>
          </a:xfrm>
          <a:prstGeom prst="rect">
            <a:avLst/>
          </a:prstGeom>
          <a:noFill/>
          <a:ln w="9525">
            <a:noFill/>
            <a:miter lim="800000"/>
            <a:headEnd/>
            <a:tailEnd/>
          </a:ln>
          <a:effectLst/>
        </p:spPr>
        <p:txBody>
          <a:bodyPr wrap="square">
            <a:spAutoFit/>
          </a:bodyPr>
          <a:lstStyle/>
          <a:p>
            <a:pPr algn="l"/>
            <a:r>
              <a:rPr lang="en-US" sz="2800" dirty="0"/>
              <a:t>This project investigates what makes a job listing high-paying across major job boards (e.g., Glassdoor, Indeed). Using thousands of job descriptions and the </a:t>
            </a:r>
            <a:r>
              <a:rPr lang="en-US" sz="2800" dirty="0" err="1"/>
              <a:t>BERTopic</a:t>
            </a:r>
            <a:r>
              <a:rPr lang="en-US" sz="2800" dirty="0"/>
              <a:t> machine-learning model, we extract recurring topics and keywords that consistently appear in high-salary roles.</a:t>
            </a:r>
          </a:p>
          <a:p>
            <a:pPr algn="l"/>
            <a:endParaRPr lang="en-US" sz="2800" dirty="0"/>
          </a:p>
          <a:p>
            <a:pPr algn="l"/>
            <a:r>
              <a:rPr lang="en-US" sz="2800" dirty="0"/>
              <a:t>By identifying the skills, responsibilities, and industry terms most associated with high compensation, this analysis helps job seekers understand what employers value and highlights the kinds of roles and qualifications linked to higher earnings.</a:t>
            </a:r>
          </a:p>
        </p:txBody>
      </p:sp>
      <p:sp>
        <p:nvSpPr>
          <p:cNvPr id="30" name="Text Box 42"/>
          <p:cNvSpPr txBox="1">
            <a:spLocks noChangeArrowheads="1"/>
          </p:cNvSpPr>
          <p:nvPr/>
        </p:nvSpPr>
        <p:spPr bwMode="auto">
          <a:xfrm>
            <a:off x="1153745" y="11926552"/>
            <a:ext cx="6345607" cy="923330"/>
          </a:xfrm>
          <a:prstGeom prst="rect">
            <a:avLst/>
          </a:prstGeom>
          <a:noFill/>
          <a:ln w="9525">
            <a:noFill/>
            <a:miter lim="800000"/>
            <a:headEnd/>
            <a:tailEnd/>
          </a:ln>
          <a:effectLst/>
        </p:spPr>
        <p:txBody>
          <a:bodyPr wrap="square">
            <a:spAutoFit/>
          </a:bodyPr>
          <a:lstStyle/>
          <a:p>
            <a:pPr defTabSz="4389438">
              <a:spcBef>
                <a:spcPct val="50000"/>
              </a:spcBef>
            </a:pPr>
            <a:r>
              <a:rPr lang="en-US" sz="5400" b="1" dirty="0">
                <a:latin typeface="+mj-lt"/>
              </a:rPr>
              <a:t>Introduction</a:t>
            </a:r>
          </a:p>
        </p:txBody>
      </p:sp>
      <p:sp>
        <p:nvSpPr>
          <p:cNvPr id="3" name="TextBox 2">
            <a:extLst>
              <a:ext uri="{FF2B5EF4-FFF2-40B4-BE49-F238E27FC236}">
                <a16:creationId xmlns:a16="http://schemas.microsoft.com/office/drawing/2014/main" id="{449176E3-CD26-4928-868F-1F03895DE45D}"/>
              </a:ext>
            </a:extLst>
          </p:cNvPr>
          <p:cNvSpPr txBox="1"/>
          <p:nvPr/>
        </p:nvSpPr>
        <p:spPr>
          <a:xfrm>
            <a:off x="8855869" y="9519062"/>
            <a:ext cx="6806894" cy="400110"/>
          </a:xfrm>
          <a:prstGeom prst="rect">
            <a:avLst/>
          </a:prstGeom>
          <a:noFill/>
        </p:spPr>
        <p:txBody>
          <a:bodyPr wrap="square" rtlCol="0">
            <a:spAutoFit/>
          </a:bodyPr>
          <a:lstStyle/>
          <a:p>
            <a:pPr algn="l"/>
            <a:endParaRPr lang="en-US" sz="2000" dirty="0">
              <a:latin typeface="+mj-lt"/>
            </a:endParaRPr>
          </a:p>
        </p:txBody>
      </p:sp>
      <p:sp>
        <p:nvSpPr>
          <p:cNvPr id="4" name="TextBox 3">
            <a:extLst>
              <a:ext uri="{FF2B5EF4-FFF2-40B4-BE49-F238E27FC236}">
                <a16:creationId xmlns:a16="http://schemas.microsoft.com/office/drawing/2014/main" id="{61D569F0-7174-4C14-A820-079FC2DEA40F}"/>
              </a:ext>
            </a:extLst>
          </p:cNvPr>
          <p:cNvSpPr txBox="1"/>
          <p:nvPr/>
        </p:nvSpPr>
        <p:spPr>
          <a:xfrm>
            <a:off x="24892934" y="13450683"/>
            <a:ext cx="7471913" cy="707886"/>
          </a:xfrm>
          <a:prstGeom prst="rect">
            <a:avLst/>
          </a:prstGeom>
          <a:noFill/>
        </p:spPr>
        <p:txBody>
          <a:bodyPr wrap="square" rtlCol="0">
            <a:spAutoFit/>
          </a:bodyPr>
          <a:lstStyle/>
          <a:p>
            <a:r>
              <a:rPr lang="en-US" sz="4000" b="1" dirty="0">
                <a:latin typeface="+mj-lt"/>
              </a:rPr>
              <a:t>Acknowledgements</a:t>
            </a:r>
          </a:p>
        </p:txBody>
      </p:sp>
      <p:sp>
        <p:nvSpPr>
          <p:cNvPr id="32" name="Text Box 14">
            <a:extLst>
              <a:ext uri="{FF2B5EF4-FFF2-40B4-BE49-F238E27FC236}">
                <a16:creationId xmlns:a16="http://schemas.microsoft.com/office/drawing/2014/main" id="{665DCCC7-866B-8444-8109-11D42C98DCE4}"/>
              </a:ext>
            </a:extLst>
          </p:cNvPr>
          <p:cNvSpPr txBox="1">
            <a:spLocks noChangeArrowheads="1"/>
          </p:cNvSpPr>
          <p:nvPr/>
        </p:nvSpPr>
        <p:spPr bwMode="auto">
          <a:xfrm>
            <a:off x="485442" y="326649"/>
            <a:ext cx="31723011" cy="3020599"/>
          </a:xfrm>
          <a:prstGeom prst="rect">
            <a:avLst/>
          </a:prstGeom>
          <a:noFill/>
          <a:ln w="9525">
            <a:noFill/>
            <a:miter lim="800000"/>
            <a:headEnd/>
            <a:tailEnd/>
          </a:ln>
          <a:effectLst/>
        </p:spPr>
        <p:txBody>
          <a:bodyPr wrap="square" lIns="65306" tIns="32653" rIns="65306" bIns="32653">
            <a:spAutoFit/>
          </a:bodyPr>
          <a:lstStyle/>
          <a:p>
            <a:pPr defTabSz="3134937">
              <a:spcBef>
                <a:spcPct val="50000"/>
              </a:spcBef>
            </a:pPr>
            <a:r>
              <a:rPr lang="en-US" sz="5000" b="1" dirty="0" err="1">
                <a:latin typeface="+mj-lt"/>
              </a:rPr>
              <a:t>Bertopic</a:t>
            </a:r>
            <a:r>
              <a:rPr lang="en-US" sz="5000" b="1" dirty="0">
                <a:latin typeface="+mj-lt"/>
              </a:rPr>
              <a:t> Job Postings Analysis</a:t>
            </a:r>
          </a:p>
          <a:p>
            <a:pPr defTabSz="3134937"/>
            <a:r>
              <a:rPr lang="en-US" sz="3600" b="1" dirty="0">
                <a:latin typeface="+mj-lt"/>
              </a:rPr>
              <a:t>Denley Tran</a:t>
            </a:r>
          </a:p>
          <a:p>
            <a:pPr defTabSz="3134937"/>
            <a:r>
              <a:rPr lang="en-US" sz="3200" b="1" dirty="0"/>
              <a:t>Advisor: Prof. Pang, Prof. Wang, Ph.D.</a:t>
            </a:r>
          </a:p>
          <a:p>
            <a:pPr defTabSz="3134937">
              <a:spcBef>
                <a:spcPts val="1200"/>
              </a:spcBef>
            </a:pPr>
            <a:r>
              <a:rPr lang="en-US" sz="3200" b="1" dirty="0"/>
              <a:t>School of Computing and Data Science</a:t>
            </a:r>
            <a:endParaRPr lang="en-US" sz="3200" dirty="0"/>
          </a:p>
          <a:p>
            <a:pPr defTabSz="3134937">
              <a:spcBef>
                <a:spcPts val="0"/>
              </a:spcBef>
            </a:pPr>
            <a:r>
              <a:rPr lang="en-US" sz="3200" b="1" dirty="0"/>
              <a:t>Wentworth Institute of Technology</a:t>
            </a:r>
          </a:p>
        </p:txBody>
      </p:sp>
      <p:sp>
        <p:nvSpPr>
          <p:cNvPr id="35" name="Text Box 10">
            <a:extLst>
              <a:ext uri="{FF2B5EF4-FFF2-40B4-BE49-F238E27FC236}">
                <a16:creationId xmlns:a16="http://schemas.microsoft.com/office/drawing/2014/main" id="{C355A3B8-924E-3F40-B635-52923CDBA147}"/>
              </a:ext>
            </a:extLst>
          </p:cNvPr>
          <p:cNvSpPr txBox="1">
            <a:spLocks noChangeArrowheads="1"/>
          </p:cNvSpPr>
          <p:nvPr/>
        </p:nvSpPr>
        <p:spPr bwMode="auto">
          <a:xfrm>
            <a:off x="24917399" y="4164112"/>
            <a:ext cx="7372350" cy="896940"/>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5400" b="1" dirty="0">
                <a:latin typeface="+mj-lt"/>
              </a:rPr>
              <a:t>Discussion</a:t>
            </a:r>
          </a:p>
        </p:txBody>
      </p:sp>
      <p:sp>
        <p:nvSpPr>
          <p:cNvPr id="36" name="Text Box 9">
            <a:extLst>
              <a:ext uri="{FF2B5EF4-FFF2-40B4-BE49-F238E27FC236}">
                <a16:creationId xmlns:a16="http://schemas.microsoft.com/office/drawing/2014/main" id="{5744F0C5-9C76-A246-8792-3A524A51E256}"/>
              </a:ext>
            </a:extLst>
          </p:cNvPr>
          <p:cNvSpPr txBox="1">
            <a:spLocks noChangeArrowheads="1"/>
          </p:cNvSpPr>
          <p:nvPr/>
        </p:nvSpPr>
        <p:spPr bwMode="auto">
          <a:xfrm>
            <a:off x="25135415" y="4937958"/>
            <a:ext cx="7179651" cy="4374816"/>
          </a:xfrm>
          <a:prstGeom prst="rect">
            <a:avLst/>
          </a:prstGeom>
          <a:noFill/>
          <a:ln w="9525">
            <a:noFill/>
            <a:miter lim="800000"/>
            <a:headEnd/>
            <a:tailEnd/>
          </a:ln>
          <a:effectLst/>
        </p:spPr>
        <p:txBody>
          <a:bodyPr wrap="square" lIns="65306" tIns="32653" rIns="65306" bIns="32653">
            <a:spAutoFit/>
          </a:bodyPr>
          <a:lstStyle/>
          <a:p>
            <a:pPr algn="l" defTabSz="437644" eaLnBrk="0" hangingPunct="0"/>
            <a:r>
              <a:rPr lang="en-US" sz="2800" dirty="0"/>
              <a:t>Some issues we ran into while working on this project include:</a:t>
            </a:r>
          </a:p>
          <a:p>
            <a:pPr algn="l" defTabSz="437644" eaLnBrk="0" hangingPunct="0"/>
            <a:endParaRPr lang="en-US" sz="2800" dirty="0"/>
          </a:p>
          <a:p>
            <a:pPr marL="457200" indent="-457200" algn="l" defTabSz="437644" eaLnBrk="0" hangingPunct="0">
              <a:buFont typeface="Arial" panose="020B0604020202020204" pitchFamily="34" charset="0"/>
              <a:buChar char="•"/>
            </a:pPr>
            <a:r>
              <a:rPr lang="en-US" sz="2800" b="1" dirty="0"/>
              <a:t>Data Cleaning:</a:t>
            </a:r>
            <a:r>
              <a:rPr lang="en-US" sz="2800" dirty="0"/>
              <a:t> Some insufficiently cleaned data led to the topic clusters having irrelevant keywords within them.</a:t>
            </a:r>
          </a:p>
          <a:p>
            <a:pPr marL="457200" indent="-457200" algn="l" defTabSz="437644" eaLnBrk="0" hangingPunct="0">
              <a:buFont typeface="Arial" panose="020B0604020202020204" pitchFamily="34" charset="0"/>
              <a:buChar char="•"/>
            </a:pPr>
            <a:r>
              <a:rPr lang="en-US" sz="2800" b="1" dirty="0"/>
              <a:t>Data Collection: </a:t>
            </a:r>
            <a:r>
              <a:rPr lang="en-US" sz="2800" dirty="0"/>
              <a:t>Had to resort to using Kaggle for historical job postings since it was impossible to scrape job postings from past years.</a:t>
            </a:r>
            <a:endParaRPr lang="en-US" sz="2800" b="1" dirty="0"/>
          </a:p>
        </p:txBody>
      </p:sp>
      <p:sp>
        <p:nvSpPr>
          <p:cNvPr id="37" name="Text Box 9">
            <a:extLst>
              <a:ext uri="{FF2B5EF4-FFF2-40B4-BE49-F238E27FC236}">
                <a16:creationId xmlns:a16="http://schemas.microsoft.com/office/drawing/2014/main" id="{B1091754-DC6B-A34C-A123-E0C1A924DB25}"/>
              </a:ext>
            </a:extLst>
          </p:cNvPr>
          <p:cNvSpPr txBox="1">
            <a:spLocks noChangeArrowheads="1"/>
          </p:cNvSpPr>
          <p:nvPr/>
        </p:nvSpPr>
        <p:spPr bwMode="auto">
          <a:xfrm>
            <a:off x="16950378" y="5692755"/>
            <a:ext cx="7482320" cy="6283030"/>
          </a:xfrm>
          <a:prstGeom prst="rect">
            <a:avLst/>
          </a:prstGeom>
          <a:noFill/>
          <a:ln w="9525">
            <a:noFill/>
            <a:miter lim="800000"/>
            <a:headEnd/>
            <a:tailEnd/>
          </a:ln>
          <a:effectLst/>
        </p:spPr>
        <p:txBody>
          <a:bodyPr wrap="square" lIns="65306" tIns="32653" rIns="65306" bIns="32653">
            <a:spAutoFit/>
          </a:bodyPr>
          <a:lstStyle/>
          <a:p>
            <a:pPr marL="457200" indent="-457200" algn="l" defTabSz="437644" eaLnBrk="0" hangingPunct="0">
              <a:spcAft>
                <a:spcPts val="1200"/>
              </a:spcAft>
              <a:buFont typeface="Arial" panose="020B0604020202020204" pitchFamily="34" charset="0"/>
              <a:buChar char="•"/>
            </a:pPr>
            <a:r>
              <a:rPr lang="en-US" sz="2800" b="1" dirty="0"/>
              <a:t>Topic [0] Machine Learning:</a:t>
            </a:r>
            <a:r>
              <a:rPr lang="en-US" sz="2800" dirty="0"/>
              <a:t> Keywords strongly center on </a:t>
            </a:r>
            <a:r>
              <a:rPr lang="en-US" sz="2800" b="1" dirty="0"/>
              <a:t>AI and machine learning</a:t>
            </a:r>
            <a:r>
              <a:rPr lang="en-US" sz="2800" dirty="0"/>
              <a:t>.</a:t>
            </a:r>
          </a:p>
          <a:p>
            <a:pPr marL="457200" indent="-457200" algn="l" defTabSz="437644" eaLnBrk="0" hangingPunct="0">
              <a:spcAft>
                <a:spcPts val="1200"/>
              </a:spcAft>
              <a:buFont typeface="Arial" panose="020B0604020202020204" pitchFamily="34" charset="0"/>
              <a:buChar char="•"/>
            </a:pPr>
            <a:r>
              <a:rPr lang="en-US" sz="2800" b="1" dirty="0"/>
              <a:t>Topic [1] Community Building:</a:t>
            </a:r>
            <a:r>
              <a:rPr lang="en-US" sz="2800" dirty="0"/>
              <a:t> Keywords are focused on the concept of </a:t>
            </a:r>
            <a:r>
              <a:rPr lang="en-US" sz="2800" b="1" dirty="0"/>
              <a:t>community</a:t>
            </a:r>
            <a:r>
              <a:rPr lang="en-US" sz="2800" dirty="0"/>
              <a:t>.</a:t>
            </a:r>
          </a:p>
          <a:p>
            <a:pPr marL="457200" indent="-457200" algn="l" defTabSz="437644" eaLnBrk="0" hangingPunct="0">
              <a:spcAft>
                <a:spcPts val="1200"/>
              </a:spcAft>
              <a:buFont typeface="Arial" panose="020B0604020202020204" pitchFamily="34" charset="0"/>
              <a:buChar char="•"/>
            </a:pPr>
            <a:r>
              <a:rPr lang="en-US" sz="2800" dirty="0"/>
              <a:t>Topic [2] health: Most of the keywords are related to employee healthcare. </a:t>
            </a:r>
          </a:p>
          <a:p>
            <a:pPr marL="457200" indent="-457200" algn="l" defTabSz="437644" eaLnBrk="0" hangingPunct="0">
              <a:spcAft>
                <a:spcPts val="1200"/>
              </a:spcAft>
              <a:buFont typeface="Arial" panose="020B0604020202020204" pitchFamily="34" charset="0"/>
              <a:buChar char="•"/>
            </a:pPr>
            <a:r>
              <a:rPr lang="en-US" sz="2800" b="1" dirty="0"/>
              <a:t>Topic [3] Employee Benefits:</a:t>
            </a:r>
            <a:r>
              <a:rPr lang="en-US" sz="2800" dirty="0"/>
              <a:t> Keywords indicate a discussion of </a:t>
            </a:r>
            <a:r>
              <a:rPr lang="en-US" sz="2800" b="1" dirty="0"/>
              <a:t>compensation and benefits</a:t>
            </a:r>
            <a:r>
              <a:rPr lang="en-US" sz="2800" dirty="0"/>
              <a:t>.</a:t>
            </a:r>
          </a:p>
          <a:p>
            <a:pPr marL="457200" indent="-457200" algn="l" defTabSz="437644" eaLnBrk="0" hangingPunct="0">
              <a:spcAft>
                <a:spcPts val="1200"/>
              </a:spcAft>
              <a:buFont typeface="Arial" panose="020B0604020202020204" pitchFamily="34" charset="0"/>
              <a:buChar char="•"/>
            </a:pPr>
            <a:r>
              <a:rPr lang="en-US" sz="2800" b="1" dirty="0"/>
              <a:t>Topic [4] Employment Status:</a:t>
            </a:r>
            <a:r>
              <a:rPr lang="en-US" sz="2800" dirty="0"/>
              <a:t> Keywords relate to </a:t>
            </a:r>
            <a:r>
              <a:rPr lang="en-US" sz="2800" b="1" dirty="0"/>
              <a:t>employment type</a:t>
            </a:r>
            <a:r>
              <a:rPr lang="en-US" sz="2800" dirty="0"/>
              <a:t> and </a:t>
            </a:r>
            <a:r>
              <a:rPr lang="en-US" sz="2800" b="1" dirty="0"/>
              <a:t>status</a:t>
            </a:r>
            <a:r>
              <a:rPr lang="en-US" sz="2800" dirty="0"/>
              <a:t> (e.g., job title/role).</a:t>
            </a:r>
          </a:p>
        </p:txBody>
      </p:sp>
      <p:sp>
        <p:nvSpPr>
          <p:cNvPr id="38" name="Text Box 10">
            <a:extLst>
              <a:ext uri="{FF2B5EF4-FFF2-40B4-BE49-F238E27FC236}">
                <a16:creationId xmlns:a16="http://schemas.microsoft.com/office/drawing/2014/main" id="{085C4CCE-C73D-114D-A857-FBBD54127551}"/>
              </a:ext>
            </a:extLst>
          </p:cNvPr>
          <p:cNvSpPr txBox="1">
            <a:spLocks noChangeArrowheads="1"/>
          </p:cNvSpPr>
          <p:nvPr/>
        </p:nvSpPr>
        <p:spPr bwMode="auto">
          <a:xfrm>
            <a:off x="17060348" y="4164112"/>
            <a:ext cx="7372350" cy="896940"/>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5400" b="1" dirty="0">
                <a:latin typeface="+mj-lt"/>
              </a:rPr>
              <a:t>Results</a:t>
            </a:r>
          </a:p>
        </p:txBody>
      </p:sp>
      <p:pic>
        <p:nvPicPr>
          <p:cNvPr id="40" name="Picture 39">
            <a:extLst>
              <a:ext uri="{FF2B5EF4-FFF2-40B4-BE49-F238E27FC236}">
                <a16:creationId xmlns:a16="http://schemas.microsoft.com/office/drawing/2014/main" id="{DC03FC6D-1CC1-054B-85A2-7BD356FCF0C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14350" y="920684"/>
            <a:ext cx="6985002" cy="1851026"/>
          </a:xfrm>
          <a:prstGeom prst="rect">
            <a:avLst/>
          </a:prstGeom>
        </p:spPr>
      </p:pic>
      <p:pic>
        <p:nvPicPr>
          <p:cNvPr id="5" name="Picture 2" descr="https://wit.edu/sites/default/files/Seal_Black_No_Fill-Light_Bkgd.png">
            <a:extLst>
              <a:ext uri="{FF2B5EF4-FFF2-40B4-BE49-F238E27FC236}">
                <a16:creationId xmlns:a16="http://schemas.microsoft.com/office/drawing/2014/main" id="{232FA6ED-EAEF-FF04-ECE4-7F8A8E14675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8780595" y="389505"/>
            <a:ext cx="3223405" cy="32234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0">
            <a:extLst>
              <a:ext uri="{FF2B5EF4-FFF2-40B4-BE49-F238E27FC236}">
                <a16:creationId xmlns:a16="http://schemas.microsoft.com/office/drawing/2014/main" id="{72341107-D9DE-022E-995E-944F3059F83C}"/>
              </a:ext>
            </a:extLst>
          </p:cNvPr>
          <p:cNvSpPr txBox="1">
            <a:spLocks noChangeArrowheads="1"/>
          </p:cNvSpPr>
          <p:nvPr/>
        </p:nvSpPr>
        <p:spPr bwMode="auto">
          <a:xfrm>
            <a:off x="8573141" y="4102279"/>
            <a:ext cx="7372350" cy="896940"/>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5400" b="1" dirty="0">
                <a:latin typeface="+mj-lt"/>
              </a:rPr>
              <a:t>Datasets</a:t>
            </a:r>
          </a:p>
        </p:txBody>
      </p:sp>
      <p:sp>
        <p:nvSpPr>
          <p:cNvPr id="28" name="Text Box 9">
            <a:extLst>
              <a:ext uri="{FF2B5EF4-FFF2-40B4-BE49-F238E27FC236}">
                <a16:creationId xmlns:a16="http://schemas.microsoft.com/office/drawing/2014/main" id="{7F6D341B-5E9F-5C12-8D71-828FFBD66F5C}"/>
              </a:ext>
            </a:extLst>
          </p:cNvPr>
          <p:cNvSpPr txBox="1">
            <a:spLocks noChangeArrowheads="1"/>
          </p:cNvSpPr>
          <p:nvPr/>
        </p:nvSpPr>
        <p:spPr bwMode="auto">
          <a:xfrm>
            <a:off x="8805346" y="5224885"/>
            <a:ext cx="7541601" cy="8279190"/>
          </a:xfrm>
          <a:prstGeom prst="rect">
            <a:avLst/>
          </a:prstGeom>
          <a:noFill/>
          <a:ln w="9525">
            <a:noFill/>
            <a:miter lim="800000"/>
            <a:headEnd/>
            <a:tailEnd/>
          </a:ln>
          <a:effectLst/>
        </p:spPr>
        <p:txBody>
          <a:bodyPr wrap="square">
            <a:spAutoFit/>
          </a:bodyPr>
          <a:lstStyle/>
          <a:p>
            <a:pPr algn="l"/>
            <a:r>
              <a:rPr lang="en-US" sz="2800" dirty="0"/>
              <a:t>We used a dataset of computer science job listings scraped from multiple job boards on Kaggle. To prepare the data for analysis, we performed the following cleaning and preprocessing steps:</a:t>
            </a:r>
          </a:p>
          <a:p>
            <a:pPr marL="457200" indent="-457200" algn="l">
              <a:buFont typeface="Arial" panose="020B0604020202020204" pitchFamily="34" charset="0"/>
              <a:buChar char="•"/>
            </a:pPr>
            <a:r>
              <a:rPr lang="en-US" sz="2800" b="1" dirty="0"/>
              <a:t>Separated salary ranges</a:t>
            </a:r>
            <a:r>
              <a:rPr lang="en-US" sz="2800" dirty="0"/>
              <a:t> into </a:t>
            </a:r>
            <a:r>
              <a:rPr lang="en-US" sz="2800" i="1" dirty="0"/>
              <a:t>lower</a:t>
            </a:r>
            <a:r>
              <a:rPr lang="en-US" sz="2800" dirty="0"/>
              <a:t> and </a:t>
            </a:r>
            <a:r>
              <a:rPr lang="en-US" sz="2800" i="1" dirty="0"/>
              <a:t>upper</a:t>
            </a:r>
            <a:r>
              <a:rPr lang="en-US" sz="2800" dirty="0"/>
              <a:t> values to allow numeric comparison and visualization</a:t>
            </a:r>
          </a:p>
          <a:p>
            <a:pPr marL="457200" indent="-457200" algn="l">
              <a:buFont typeface="Arial" panose="020B0604020202020204" pitchFamily="34" charset="0"/>
              <a:buChar char="•"/>
            </a:pPr>
            <a:r>
              <a:rPr lang="en-US" sz="2800" b="1" dirty="0"/>
              <a:t>Removed job postings without descriptions</a:t>
            </a:r>
            <a:r>
              <a:rPr lang="en-US" sz="2800" dirty="0"/>
              <a:t> because topic modeling requires full text to extract keywords</a:t>
            </a:r>
          </a:p>
          <a:p>
            <a:pPr marL="457200" indent="-457200" algn="l">
              <a:buFont typeface="Arial" panose="020B0604020202020204" pitchFamily="34" charset="0"/>
              <a:buChar char="•"/>
            </a:pPr>
            <a:r>
              <a:rPr lang="en-US" sz="2800" b="1" dirty="0"/>
              <a:t>Replaced all empty fields with “N/A”</a:t>
            </a:r>
            <a:r>
              <a:rPr lang="en-US" sz="2800" dirty="0"/>
              <a:t> to prevent missing-value errors during preprocessing</a:t>
            </a:r>
          </a:p>
          <a:p>
            <a:pPr marL="457200" indent="-457200" algn="l">
              <a:buFont typeface="Arial" panose="020B0604020202020204" pitchFamily="34" charset="0"/>
              <a:buChar char="•"/>
            </a:pPr>
            <a:r>
              <a:rPr lang="en-US" sz="2800" b="1" dirty="0"/>
              <a:t>Split location into “city” and “state”</a:t>
            </a:r>
            <a:r>
              <a:rPr lang="en-US" sz="2800" dirty="0"/>
              <a:t> to support geographic analysis</a:t>
            </a:r>
          </a:p>
          <a:p>
            <a:pPr marL="457200" indent="-457200" algn="l">
              <a:buFont typeface="Arial" panose="020B0604020202020204" pitchFamily="34" charset="0"/>
              <a:buChar char="•"/>
            </a:pPr>
            <a:r>
              <a:rPr lang="en-US" sz="2800" b="1" dirty="0"/>
              <a:t>Removed duplicate job descriptions</a:t>
            </a:r>
            <a:r>
              <a:rPr lang="en-US" sz="2800" dirty="0"/>
              <a:t> to avoid overweighting repeated postings in the topic model</a:t>
            </a:r>
          </a:p>
        </p:txBody>
      </p:sp>
      <p:sp>
        <p:nvSpPr>
          <p:cNvPr id="2" name="Text Box 10">
            <a:extLst>
              <a:ext uri="{FF2B5EF4-FFF2-40B4-BE49-F238E27FC236}">
                <a16:creationId xmlns:a16="http://schemas.microsoft.com/office/drawing/2014/main" id="{569EF759-BF0A-CCD1-7E50-D13319A47BF5}"/>
              </a:ext>
            </a:extLst>
          </p:cNvPr>
          <p:cNvSpPr txBox="1">
            <a:spLocks noChangeArrowheads="1"/>
          </p:cNvSpPr>
          <p:nvPr/>
        </p:nvSpPr>
        <p:spPr bwMode="auto">
          <a:xfrm>
            <a:off x="8547771" y="13710099"/>
            <a:ext cx="7372350" cy="896940"/>
          </a:xfrm>
          <a:prstGeom prst="rect">
            <a:avLst/>
          </a:prstGeom>
          <a:noFill/>
          <a:ln w="9525">
            <a:noFill/>
            <a:miter lim="800000"/>
            <a:headEnd/>
            <a:tailEnd/>
          </a:ln>
          <a:effectLst/>
        </p:spPr>
        <p:txBody>
          <a:bodyPr lIns="65306" tIns="32653" rIns="65306" bIns="32653">
            <a:spAutoFit/>
          </a:bodyPr>
          <a:lstStyle/>
          <a:p>
            <a:pPr defTabSz="3134937">
              <a:spcBef>
                <a:spcPct val="50000"/>
              </a:spcBef>
            </a:pPr>
            <a:r>
              <a:rPr lang="en-US" sz="5400" b="1" dirty="0">
                <a:latin typeface="+mj-lt"/>
              </a:rPr>
              <a:t>Methodology</a:t>
            </a:r>
          </a:p>
        </p:txBody>
      </p:sp>
      <p:pic>
        <p:nvPicPr>
          <p:cNvPr id="7" name="Picture 6">
            <a:extLst>
              <a:ext uri="{FF2B5EF4-FFF2-40B4-BE49-F238E27FC236}">
                <a16:creationId xmlns:a16="http://schemas.microsoft.com/office/drawing/2014/main" id="{092DAFCE-B236-79BE-4BEA-A8FB0BE2608A}"/>
              </a:ext>
            </a:extLst>
          </p:cNvPr>
          <p:cNvPicPr>
            <a:picLocks noChangeAspect="1"/>
          </p:cNvPicPr>
          <p:nvPr/>
        </p:nvPicPr>
        <p:blipFill>
          <a:blip r:embed="rId5"/>
          <a:stretch>
            <a:fillRect/>
          </a:stretch>
        </p:blipFill>
        <p:spPr>
          <a:xfrm>
            <a:off x="16781359" y="12307596"/>
            <a:ext cx="7712401" cy="4713371"/>
          </a:xfrm>
          <a:prstGeom prst="rect">
            <a:avLst/>
          </a:prstGeom>
        </p:spPr>
      </p:pic>
      <p:sp>
        <p:nvSpPr>
          <p:cNvPr id="9" name="Text Box 9">
            <a:extLst>
              <a:ext uri="{FF2B5EF4-FFF2-40B4-BE49-F238E27FC236}">
                <a16:creationId xmlns:a16="http://schemas.microsoft.com/office/drawing/2014/main" id="{82005DE2-95A9-8047-AE33-EF5FFD3027DF}"/>
              </a:ext>
            </a:extLst>
          </p:cNvPr>
          <p:cNvSpPr txBox="1">
            <a:spLocks noChangeArrowheads="1"/>
          </p:cNvSpPr>
          <p:nvPr/>
        </p:nvSpPr>
        <p:spPr bwMode="auto">
          <a:xfrm>
            <a:off x="8855869" y="14841638"/>
            <a:ext cx="7541601" cy="4401205"/>
          </a:xfrm>
          <a:prstGeom prst="rect">
            <a:avLst/>
          </a:prstGeom>
          <a:noFill/>
          <a:ln w="9525">
            <a:noFill/>
            <a:miter lim="800000"/>
            <a:headEnd/>
            <a:tailEnd/>
          </a:ln>
          <a:effectLst/>
        </p:spPr>
        <p:txBody>
          <a:bodyPr wrap="square">
            <a:spAutoFit/>
          </a:bodyPr>
          <a:lstStyle/>
          <a:p>
            <a:pPr algn="l"/>
            <a:r>
              <a:rPr lang="en-US" sz="2800" dirty="0"/>
              <a:t>The dataset of 627 unique job postings was obtained from Kaggle.com. Data preprocessing included cleaning and formatting the data in a way that the topics wouldn’t become too unclear. Analysis was conducted in Python using Pandas for cleaning and Matplotlib for visualization. The workflow followed four stages: raw data acquisition → preprocessing → analytical exploration → results interpretation.</a:t>
            </a:r>
          </a:p>
        </p:txBody>
      </p:sp>
    </p:spTree>
  </p:cSld>
  <p:clrMapOvr>
    <a:masterClrMapping/>
  </p:clrMapOvr>
</p:sld>
</file>

<file path=ppt/theme/theme1.xml><?xml version="1.0" encoding="utf-8"?>
<a:theme xmlns:a="http://schemas.openxmlformats.org/drawingml/2006/main" name="Default Design">
  <a:themeElements>
    <a:clrScheme name="Custom 28">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F9F0EBF511CE45A79FBB72A52630DC" ma:contentTypeVersion="12" ma:contentTypeDescription="Create a new document." ma:contentTypeScope="" ma:versionID="bf552cc763acd788fa927423af768369">
  <xsd:schema xmlns:xsd="http://www.w3.org/2001/XMLSchema" xmlns:xs="http://www.w3.org/2001/XMLSchema" xmlns:p="http://schemas.microsoft.com/office/2006/metadata/properties" xmlns:ns2="4822595b-a849-42b7-b469-57ccc9ff274d" xmlns:ns3="e0f52240-22ff-4af7-aad0-dab41dbb4f16" targetNamespace="http://schemas.microsoft.com/office/2006/metadata/properties" ma:root="true" ma:fieldsID="24f664e83530a41b1a58abd3c0ca734f" ns2:_="" ns3:_="">
    <xsd:import namespace="4822595b-a849-42b7-b469-57ccc9ff274d"/>
    <xsd:import namespace="e0f52240-22ff-4af7-aad0-dab41dbb4f1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22595b-a849-42b7-b469-57ccc9ff27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f52240-22ff-4af7-aad0-dab41dbb4f1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C3F571-26D0-4EC9-AD21-302ECB41B7B9}">
  <ds:schemaRefs>
    <ds:schemaRef ds:uri="http://schemas.microsoft.com/sharepoint/v3/contenttype/forms"/>
  </ds:schemaRefs>
</ds:datastoreItem>
</file>

<file path=customXml/itemProps2.xml><?xml version="1.0" encoding="utf-8"?>
<ds:datastoreItem xmlns:ds="http://schemas.openxmlformats.org/officeDocument/2006/customXml" ds:itemID="{4400CEF9-AD5F-4272-ADB4-C283A78994E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3E4EC20-8633-4F10-AE54-10642E5F2A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22595b-a849-42b7-b469-57ccc9ff274d"/>
    <ds:schemaRef ds:uri="e0f52240-22ff-4af7-aad0-dab41dbb4f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Couture</Template>
  <TotalTime>1276</TotalTime>
  <Words>582</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dc:creator>
  <dc:description>©MegaPrint Inc. 2009</dc:description>
  <cp:lastModifiedBy>Tran, Denley</cp:lastModifiedBy>
  <cp:revision>91</cp:revision>
  <cp:lastPrinted>2014-03-18T19:21:06Z</cp:lastPrinted>
  <dcterms:created xsi:type="dcterms:W3CDTF">2008-12-04T00:20:37Z</dcterms:created>
  <dcterms:modified xsi:type="dcterms:W3CDTF">2025-11-20T18:33:01Z</dcterms:modified>
  <cp:category>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0x010100C8F9F0EBF511CE45A79FBB72A52630DC</vt:lpwstr>
  </property>
</Properties>
</file>