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sldIdLst>
    <p:sldId id="256" r:id="rId5"/>
  </p:sldIdLst>
  <p:sldSz cx="32918400" cy="21945600"/>
  <p:notesSz cx="7315200" cy="9601200"/>
  <p:defaultTextStyle>
    <a:defPPr>
      <a:defRPr lang="en-US"/>
    </a:defPPr>
    <a:lvl1pPr algn="ctr" rtl="0" fontAlgn="base">
      <a:spcBef>
        <a:spcPct val="0"/>
      </a:spcBef>
      <a:spcAft>
        <a:spcPct val="0"/>
      </a:spcAft>
      <a:defRPr sz="6100" kern="1200">
        <a:solidFill>
          <a:schemeClr val="tx1"/>
        </a:solidFill>
        <a:latin typeface="Arial" charset="0"/>
        <a:ea typeface="+mn-ea"/>
        <a:cs typeface="+mn-cs"/>
      </a:defRPr>
    </a:lvl1pPr>
    <a:lvl2pPr marL="326532" algn="ctr" rtl="0" fontAlgn="base">
      <a:spcBef>
        <a:spcPct val="0"/>
      </a:spcBef>
      <a:spcAft>
        <a:spcPct val="0"/>
      </a:spcAft>
      <a:defRPr sz="6100" kern="1200">
        <a:solidFill>
          <a:schemeClr val="tx1"/>
        </a:solidFill>
        <a:latin typeface="Arial" charset="0"/>
        <a:ea typeface="+mn-ea"/>
        <a:cs typeface="+mn-cs"/>
      </a:defRPr>
    </a:lvl2pPr>
    <a:lvl3pPr marL="653064" algn="ctr" rtl="0" fontAlgn="base">
      <a:spcBef>
        <a:spcPct val="0"/>
      </a:spcBef>
      <a:spcAft>
        <a:spcPct val="0"/>
      </a:spcAft>
      <a:defRPr sz="6100" kern="1200">
        <a:solidFill>
          <a:schemeClr val="tx1"/>
        </a:solidFill>
        <a:latin typeface="Arial" charset="0"/>
        <a:ea typeface="+mn-ea"/>
        <a:cs typeface="+mn-cs"/>
      </a:defRPr>
    </a:lvl3pPr>
    <a:lvl4pPr marL="979597" algn="ctr" rtl="0" fontAlgn="base">
      <a:spcBef>
        <a:spcPct val="0"/>
      </a:spcBef>
      <a:spcAft>
        <a:spcPct val="0"/>
      </a:spcAft>
      <a:defRPr sz="6100" kern="1200">
        <a:solidFill>
          <a:schemeClr val="tx1"/>
        </a:solidFill>
        <a:latin typeface="Arial" charset="0"/>
        <a:ea typeface="+mn-ea"/>
        <a:cs typeface="+mn-cs"/>
      </a:defRPr>
    </a:lvl4pPr>
    <a:lvl5pPr marL="1306129" algn="ctr" rtl="0" fontAlgn="base">
      <a:spcBef>
        <a:spcPct val="0"/>
      </a:spcBef>
      <a:spcAft>
        <a:spcPct val="0"/>
      </a:spcAft>
      <a:defRPr sz="6100" kern="1200">
        <a:solidFill>
          <a:schemeClr val="tx1"/>
        </a:solidFill>
        <a:latin typeface="Arial" charset="0"/>
        <a:ea typeface="+mn-ea"/>
        <a:cs typeface="+mn-cs"/>
      </a:defRPr>
    </a:lvl5pPr>
    <a:lvl6pPr marL="1632661" algn="l" defTabSz="653064" rtl="0" eaLnBrk="1" latinLnBrk="0" hangingPunct="1">
      <a:defRPr sz="6100" kern="1200">
        <a:solidFill>
          <a:schemeClr val="tx1"/>
        </a:solidFill>
        <a:latin typeface="Arial" charset="0"/>
        <a:ea typeface="+mn-ea"/>
        <a:cs typeface="+mn-cs"/>
      </a:defRPr>
    </a:lvl6pPr>
    <a:lvl7pPr marL="1959193" algn="l" defTabSz="653064" rtl="0" eaLnBrk="1" latinLnBrk="0" hangingPunct="1">
      <a:defRPr sz="6100" kern="1200">
        <a:solidFill>
          <a:schemeClr val="tx1"/>
        </a:solidFill>
        <a:latin typeface="Arial" charset="0"/>
        <a:ea typeface="+mn-ea"/>
        <a:cs typeface="+mn-cs"/>
      </a:defRPr>
    </a:lvl7pPr>
    <a:lvl8pPr marL="2285726" algn="l" defTabSz="653064" rtl="0" eaLnBrk="1" latinLnBrk="0" hangingPunct="1">
      <a:defRPr sz="6100" kern="1200">
        <a:solidFill>
          <a:schemeClr val="tx1"/>
        </a:solidFill>
        <a:latin typeface="Arial" charset="0"/>
        <a:ea typeface="+mn-ea"/>
        <a:cs typeface="+mn-cs"/>
      </a:defRPr>
    </a:lvl8pPr>
    <a:lvl9pPr marL="2612258" algn="l" defTabSz="653064" rtl="0" eaLnBrk="1" latinLnBrk="0" hangingPunct="1">
      <a:defRPr sz="61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3224">
          <p15:clr>
            <a:srgbClr val="A4A3A4"/>
          </p15:clr>
        </p15:guide>
        <p15:guide id="2" orient="horz" pos="13464">
          <p15:clr>
            <a:srgbClr val="A4A3A4"/>
          </p15:clr>
        </p15:guide>
        <p15:guide id="3" orient="horz" pos="1432">
          <p15:clr>
            <a:srgbClr val="A4A3A4"/>
          </p15:clr>
        </p15:guide>
        <p15:guide id="4" pos="103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E745"/>
    <a:srgbClr val="FFFF99"/>
    <a:srgbClr val="FFCC99"/>
    <a:srgbClr val="FFCC00"/>
    <a:srgbClr val="FF7979"/>
    <a:srgbClr val="FFF98B"/>
    <a:srgbClr val="DDDDDD"/>
    <a:srgbClr val="FFE285"/>
    <a:srgbClr val="FFF48F"/>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307409-98A1-48A0-8460-2F777FB2FB0C}" v="6" dt="2025-11-26T02:16:55.64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5620"/>
    <p:restoredTop sz="94980" autoAdjust="0"/>
  </p:normalViewPr>
  <p:slideViewPr>
    <p:cSldViewPr snapToGrid="0">
      <p:cViewPr varScale="1">
        <p:scale>
          <a:sx n="25" d="100"/>
          <a:sy n="25" d="100"/>
        </p:scale>
        <p:origin x="1658" y="34"/>
      </p:cViewPr>
      <p:guideLst>
        <p:guide orient="horz" pos="3224"/>
        <p:guide orient="horz" pos="13464"/>
        <p:guide orient="horz" pos="1432"/>
        <p:guide pos="1036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ng, Ying" userId="c1a8e918-6c3a-40ce-b6a0-deb2bb070940" providerId="ADAL" clId="{EC4545BD-7AD3-4FA4-B760-EFC1A210E53B}"/>
    <pc:docChg chg="undo custSel modSld">
      <pc:chgData name="Wang, Ying" userId="c1a8e918-6c3a-40ce-b6a0-deb2bb070940" providerId="ADAL" clId="{EC4545BD-7AD3-4FA4-B760-EFC1A210E53B}" dt="2025-11-26T15:40:01.915" v="149" actId="20577"/>
      <pc:docMkLst>
        <pc:docMk/>
      </pc:docMkLst>
      <pc:sldChg chg="delSp modSp mod modNotesTx">
        <pc:chgData name="Wang, Ying" userId="c1a8e918-6c3a-40ce-b6a0-deb2bb070940" providerId="ADAL" clId="{EC4545BD-7AD3-4FA4-B760-EFC1A210E53B}" dt="2025-11-26T15:40:01.915" v="149" actId="20577"/>
        <pc:sldMkLst>
          <pc:docMk/>
          <pc:sldMk cId="0" sldId="256"/>
        </pc:sldMkLst>
        <pc:spChg chg="mod">
          <ac:chgData name="Wang, Ying" userId="c1a8e918-6c3a-40ce-b6a0-deb2bb070940" providerId="ADAL" clId="{EC4545BD-7AD3-4FA4-B760-EFC1A210E53B}" dt="2025-11-26T02:09:44.716" v="67" actId="20577"/>
          <ac:spMkLst>
            <pc:docMk/>
            <pc:sldMk cId="0" sldId="256"/>
            <ac:spMk id="8" creationId="{7625310E-65D0-2243-C518-A966A161A3AD}"/>
          </ac:spMkLst>
        </pc:spChg>
        <pc:spChg chg="del mod">
          <ac:chgData name="Wang, Ying" userId="c1a8e918-6c3a-40ce-b6a0-deb2bb070940" providerId="ADAL" clId="{EC4545BD-7AD3-4FA4-B760-EFC1A210E53B}" dt="2025-11-26T01:56:35.322" v="3" actId="478"/>
          <ac:spMkLst>
            <pc:docMk/>
            <pc:sldMk cId="0" sldId="256"/>
            <ac:spMk id="15" creationId="{46825C36-9B69-4934-903A-D068E094F27C}"/>
          </ac:spMkLst>
        </pc:spChg>
        <pc:spChg chg="mod">
          <ac:chgData name="Wang, Ying" userId="c1a8e918-6c3a-40ce-b6a0-deb2bb070940" providerId="ADAL" clId="{EC4545BD-7AD3-4FA4-B760-EFC1A210E53B}" dt="2025-11-26T01:57:28.689" v="12" actId="1076"/>
          <ac:spMkLst>
            <pc:docMk/>
            <pc:sldMk cId="0" sldId="256"/>
            <ac:spMk id="20" creationId="{00000000-0000-0000-0000-000000000000}"/>
          </ac:spMkLst>
        </pc:spChg>
        <pc:spChg chg="del">
          <ac:chgData name="Wang, Ying" userId="c1a8e918-6c3a-40ce-b6a0-deb2bb070940" providerId="ADAL" clId="{EC4545BD-7AD3-4FA4-B760-EFC1A210E53B}" dt="2025-11-26T01:55:53.247" v="0" actId="478"/>
          <ac:spMkLst>
            <pc:docMk/>
            <pc:sldMk cId="0" sldId="256"/>
            <ac:spMk id="29" creationId="{00000000-0000-0000-0000-000000000000}"/>
          </ac:spMkLst>
        </pc:spChg>
        <pc:spChg chg="mod">
          <ac:chgData name="Wang, Ying" userId="c1a8e918-6c3a-40ce-b6a0-deb2bb070940" providerId="ADAL" clId="{EC4545BD-7AD3-4FA4-B760-EFC1A210E53B}" dt="2025-11-26T15:40:01.915" v="149" actId="20577"/>
          <ac:spMkLst>
            <pc:docMk/>
            <pc:sldMk cId="0" sldId="256"/>
            <ac:spMk id="32" creationId="{665DCCC7-866B-8444-8109-11D42C98DCE4}"/>
          </ac:spMkLst>
        </pc:spChg>
        <pc:spChg chg="mod">
          <ac:chgData name="Wang, Ying" userId="c1a8e918-6c3a-40ce-b6a0-deb2bb070940" providerId="ADAL" clId="{EC4545BD-7AD3-4FA4-B760-EFC1A210E53B}" dt="2025-11-26T02:17:24.222" v="126" actId="1076"/>
          <ac:spMkLst>
            <pc:docMk/>
            <pc:sldMk cId="0" sldId="256"/>
            <ac:spMk id="35" creationId="{C355A3B8-924E-3F40-B635-52923CDBA147}"/>
          </ac:spMkLst>
        </pc:spChg>
        <pc:spChg chg="mod">
          <ac:chgData name="Wang, Ying" userId="c1a8e918-6c3a-40ce-b6a0-deb2bb070940" providerId="ADAL" clId="{EC4545BD-7AD3-4FA4-B760-EFC1A210E53B}" dt="2025-11-26T02:19:32.687" v="140" actId="20577"/>
          <ac:spMkLst>
            <pc:docMk/>
            <pc:sldMk cId="0" sldId="256"/>
            <ac:spMk id="36" creationId="{5744F0C5-9C76-A246-8792-3A524A51E256}"/>
          </ac:spMkLst>
        </pc:spChg>
        <pc:spChg chg="mod">
          <ac:chgData name="Wang, Ying" userId="c1a8e918-6c3a-40ce-b6a0-deb2bb070940" providerId="ADAL" clId="{EC4545BD-7AD3-4FA4-B760-EFC1A210E53B}" dt="2025-11-26T02:19:49.009" v="148" actId="1035"/>
          <ac:spMkLst>
            <pc:docMk/>
            <pc:sldMk cId="0" sldId="256"/>
            <ac:spMk id="2059" creationId="{00000000-0000-0000-0000-000000000000}"/>
          </ac:spMkLst>
        </pc:spChg>
        <pc:spChg chg="mod">
          <ac:chgData name="Wang, Ying" userId="c1a8e918-6c3a-40ce-b6a0-deb2bb070940" providerId="ADAL" clId="{EC4545BD-7AD3-4FA4-B760-EFC1A210E53B}" dt="2025-11-26T01:57:31.889" v="13" actId="1076"/>
          <ac:spMkLst>
            <pc:docMk/>
            <pc:sldMk cId="0" sldId="256"/>
            <ac:spMk id="2075" creationId="{00000000-0000-0000-0000-000000000000}"/>
          </ac:spMkLst>
        </pc:spChg>
        <pc:spChg chg="mod">
          <ac:chgData name="Wang, Ying" userId="c1a8e918-6c3a-40ce-b6a0-deb2bb070940" providerId="ADAL" clId="{EC4545BD-7AD3-4FA4-B760-EFC1A210E53B}" dt="2025-11-26T01:57:19.672" v="8" actId="1076"/>
          <ac:spMkLst>
            <pc:docMk/>
            <pc:sldMk cId="0" sldId="256"/>
            <ac:spMk id="2086" creationId="{00000000-0000-0000-0000-000000000000}"/>
          </ac:spMkLst>
        </pc:spChg>
        <pc:spChg chg="mod">
          <ac:chgData name="Wang, Ying" userId="c1a8e918-6c3a-40ce-b6a0-deb2bb070940" providerId="ADAL" clId="{EC4545BD-7AD3-4FA4-B760-EFC1A210E53B}" dt="2025-11-26T02:19:49.009" v="148" actId="1035"/>
          <ac:spMkLst>
            <pc:docMk/>
            <pc:sldMk cId="0" sldId="256"/>
            <ac:spMk id="208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1"/>
            <a:ext cx="3169920" cy="480061"/>
          </a:xfrm>
          <a:prstGeom prst="rect">
            <a:avLst/>
          </a:prstGeom>
          <a:noFill/>
          <a:ln w="9525">
            <a:noFill/>
            <a:miter lim="800000"/>
            <a:headEnd/>
            <a:tailEnd/>
          </a:ln>
          <a:effectLst/>
        </p:spPr>
        <p:txBody>
          <a:bodyPr vert="horz" wrap="square" lIns="96902" tIns="48451" rIns="96902" bIns="48451" numCol="1" anchor="t" anchorCtr="0" compatLnSpc="1">
            <a:prstTxWarp prst="textNoShape">
              <a:avLst/>
            </a:prstTxWarp>
          </a:bodyPr>
          <a:lstStyle>
            <a:lvl1pPr algn="l">
              <a:defRPr sz="1200"/>
            </a:lvl1pPr>
          </a:lstStyle>
          <a:p>
            <a:endParaRPr lang="en-US" dirty="0"/>
          </a:p>
        </p:txBody>
      </p:sp>
      <p:sp>
        <p:nvSpPr>
          <p:cNvPr id="3075" name="Rectangle 3"/>
          <p:cNvSpPr>
            <a:spLocks noGrp="1" noChangeArrowheads="1"/>
          </p:cNvSpPr>
          <p:nvPr>
            <p:ph type="dt" idx="1"/>
          </p:nvPr>
        </p:nvSpPr>
        <p:spPr bwMode="auto">
          <a:xfrm>
            <a:off x="4143551" y="1"/>
            <a:ext cx="3169920" cy="480061"/>
          </a:xfrm>
          <a:prstGeom prst="rect">
            <a:avLst/>
          </a:prstGeom>
          <a:noFill/>
          <a:ln w="9525">
            <a:noFill/>
            <a:miter lim="800000"/>
            <a:headEnd/>
            <a:tailEnd/>
          </a:ln>
          <a:effectLst/>
        </p:spPr>
        <p:txBody>
          <a:bodyPr vert="horz" wrap="square" lIns="96902" tIns="48451" rIns="96902" bIns="48451" numCol="1" anchor="t" anchorCtr="0" compatLnSpc="1">
            <a:prstTxWarp prst="textNoShape">
              <a:avLst/>
            </a:prstTxWarp>
          </a:bodyPr>
          <a:lstStyle>
            <a:lvl1pPr algn="r">
              <a:defRPr sz="1200"/>
            </a:lvl1pPr>
          </a:lstStyle>
          <a:p>
            <a:endParaRPr lang="en-US" dirty="0"/>
          </a:p>
        </p:txBody>
      </p:sp>
      <p:sp>
        <p:nvSpPr>
          <p:cNvPr id="3076" name="Rectangle 4"/>
          <p:cNvSpPr>
            <a:spLocks noGrp="1" noRot="1" noChangeAspect="1" noChangeArrowheads="1" noTextEdit="1"/>
          </p:cNvSpPr>
          <p:nvPr>
            <p:ph type="sldImg" idx="2"/>
          </p:nvPr>
        </p:nvSpPr>
        <p:spPr bwMode="auto">
          <a:xfrm>
            <a:off x="957263" y="719138"/>
            <a:ext cx="5402262" cy="3600450"/>
          </a:xfrm>
          <a:prstGeom prst="rect">
            <a:avLst/>
          </a:prstGeom>
          <a:noFill/>
          <a:ln w="9525">
            <a:solidFill>
              <a:srgbClr val="000000"/>
            </a:solidFill>
            <a:miter lim="800000"/>
            <a:headEnd/>
            <a:tailEnd/>
          </a:ln>
          <a:effectLst/>
        </p:spPr>
      </p:sp>
      <p:sp>
        <p:nvSpPr>
          <p:cNvPr id="3077" name="Rectangle 5"/>
          <p:cNvSpPr>
            <a:spLocks noGrp="1" noChangeArrowheads="1"/>
          </p:cNvSpPr>
          <p:nvPr>
            <p:ph type="body" sz="quarter" idx="3"/>
          </p:nvPr>
        </p:nvSpPr>
        <p:spPr bwMode="auto">
          <a:xfrm>
            <a:off x="731520" y="4561395"/>
            <a:ext cx="5852160" cy="4320540"/>
          </a:xfrm>
          <a:prstGeom prst="rect">
            <a:avLst/>
          </a:prstGeom>
          <a:noFill/>
          <a:ln w="9525">
            <a:noFill/>
            <a:miter lim="800000"/>
            <a:headEnd/>
            <a:tailEnd/>
          </a:ln>
          <a:effectLst/>
        </p:spPr>
        <p:txBody>
          <a:bodyPr vert="horz" wrap="square" lIns="96902" tIns="48451" rIns="96902" bIns="48451"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78" name="Rectangle 6"/>
          <p:cNvSpPr>
            <a:spLocks noGrp="1" noChangeArrowheads="1"/>
          </p:cNvSpPr>
          <p:nvPr>
            <p:ph type="ftr" sz="quarter" idx="4"/>
          </p:nvPr>
        </p:nvSpPr>
        <p:spPr bwMode="auto">
          <a:xfrm>
            <a:off x="0" y="9119491"/>
            <a:ext cx="3169920" cy="480061"/>
          </a:xfrm>
          <a:prstGeom prst="rect">
            <a:avLst/>
          </a:prstGeom>
          <a:noFill/>
          <a:ln w="9525">
            <a:noFill/>
            <a:miter lim="800000"/>
            <a:headEnd/>
            <a:tailEnd/>
          </a:ln>
          <a:effectLst/>
        </p:spPr>
        <p:txBody>
          <a:bodyPr vert="horz" wrap="square" lIns="96902" tIns="48451" rIns="96902" bIns="48451" numCol="1" anchor="b" anchorCtr="0" compatLnSpc="1">
            <a:prstTxWarp prst="textNoShape">
              <a:avLst/>
            </a:prstTxWarp>
          </a:bodyPr>
          <a:lstStyle>
            <a:lvl1pPr algn="l">
              <a:defRPr sz="1200"/>
            </a:lvl1pPr>
          </a:lstStyle>
          <a:p>
            <a:endParaRPr lang="en-US" dirty="0"/>
          </a:p>
        </p:txBody>
      </p:sp>
      <p:sp>
        <p:nvSpPr>
          <p:cNvPr id="3079" name="Rectangle 7"/>
          <p:cNvSpPr>
            <a:spLocks noGrp="1" noChangeArrowheads="1"/>
          </p:cNvSpPr>
          <p:nvPr>
            <p:ph type="sldNum" sz="quarter" idx="5"/>
          </p:nvPr>
        </p:nvSpPr>
        <p:spPr bwMode="auto">
          <a:xfrm>
            <a:off x="4143551" y="9119491"/>
            <a:ext cx="3169920" cy="480061"/>
          </a:xfrm>
          <a:prstGeom prst="rect">
            <a:avLst/>
          </a:prstGeom>
          <a:noFill/>
          <a:ln w="9525">
            <a:noFill/>
            <a:miter lim="800000"/>
            <a:headEnd/>
            <a:tailEnd/>
          </a:ln>
          <a:effectLst/>
        </p:spPr>
        <p:txBody>
          <a:bodyPr vert="horz" wrap="square" lIns="96902" tIns="48451" rIns="96902" bIns="48451" numCol="1" anchor="b" anchorCtr="0" compatLnSpc="1">
            <a:prstTxWarp prst="textNoShape">
              <a:avLst/>
            </a:prstTxWarp>
          </a:bodyPr>
          <a:lstStyle>
            <a:lvl1pPr algn="r">
              <a:defRPr sz="1200"/>
            </a:lvl1pPr>
          </a:lstStyle>
          <a:p>
            <a:fld id="{7FB84CA5-7362-492D-8EBC-472296314F28}" type="slidenum">
              <a:rPr lang="en-US"/>
              <a:pPr/>
              <a:t>‹#›</a:t>
            </a:fld>
            <a:endParaRPr lang="en-US" dirty="0"/>
          </a:p>
        </p:txBody>
      </p:sp>
    </p:spTree>
    <p:extLst>
      <p:ext uri="{BB962C8B-B14F-4D97-AF65-F5344CB8AC3E}">
        <p14:creationId xmlns:p14="http://schemas.microsoft.com/office/powerpoint/2010/main" val="2946822523"/>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900" kern="1200">
        <a:solidFill>
          <a:schemeClr val="tx1"/>
        </a:solidFill>
        <a:latin typeface="Arial" charset="0"/>
        <a:ea typeface="+mn-ea"/>
        <a:cs typeface="+mn-cs"/>
      </a:defRPr>
    </a:lvl1pPr>
    <a:lvl2pPr marL="326532" algn="l" rtl="0" fontAlgn="base">
      <a:spcBef>
        <a:spcPct val="30000"/>
      </a:spcBef>
      <a:spcAft>
        <a:spcPct val="0"/>
      </a:spcAft>
      <a:defRPr sz="900" kern="1200">
        <a:solidFill>
          <a:schemeClr val="tx1"/>
        </a:solidFill>
        <a:latin typeface="Arial" charset="0"/>
        <a:ea typeface="+mn-ea"/>
        <a:cs typeface="+mn-cs"/>
      </a:defRPr>
    </a:lvl2pPr>
    <a:lvl3pPr marL="653064" algn="l" rtl="0" fontAlgn="base">
      <a:spcBef>
        <a:spcPct val="30000"/>
      </a:spcBef>
      <a:spcAft>
        <a:spcPct val="0"/>
      </a:spcAft>
      <a:defRPr sz="900" kern="1200">
        <a:solidFill>
          <a:schemeClr val="tx1"/>
        </a:solidFill>
        <a:latin typeface="Arial" charset="0"/>
        <a:ea typeface="+mn-ea"/>
        <a:cs typeface="+mn-cs"/>
      </a:defRPr>
    </a:lvl3pPr>
    <a:lvl4pPr marL="979597" algn="l" rtl="0" fontAlgn="base">
      <a:spcBef>
        <a:spcPct val="30000"/>
      </a:spcBef>
      <a:spcAft>
        <a:spcPct val="0"/>
      </a:spcAft>
      <a:defRPr sz="900" kern="1200">
        <a:solidFill>
          <a:schemeClr val="tx1"/>
        </a:solidFill>
        <a:latin typeface="Arial" charset="0"/>
        <a:ea typeface="+mn-ea"/>
        <a:cs typeface="+mn-cs"/>
      </a:defRPr>
    </a:lvl4pPr>
    <a:lvl5pPr marL="1306129" algn="l" rtl="0" fontAlgn="base">
      <a:spcBef>
        <a:spcPct val="30000"/>
      </a:spcBef>
      <a:spcAft>
        <a:spcPct val="0"/>
      </a:spcAft>
      <a:defRPr sz="900" kern="1200">
        <a:solidFill>
          <a:schemeClr val="tx1"/>
        </a:solidFill>
        <a:latin typeface="Arial" charset="0"/>
        <a:ea typeface="+mn-ea"/>
        <a:cs typeface="+mn-cs"/>
      </a:defRPr>
    </a:lvl5pPr>
    <a:lvl6pPr marL="1632661" algn="l" defTabSz="653064" rtl="0" eaLnBrk="1" latinLnBrk="0" hangingPunct="1">
      <a:defRPr sz="900" kern="1200">
        <a:solidFill>
          <a:schemeClr val="tx1"/>
        </a:solidFill>
        <a:latin typeface="+mn-lt"/>
        <a:ea typeface="+mn-ea"/>
        <a:cs typeface="+mn-cs"/>
      </a:defRPr>
    </a:lvl6pPr>
    <a:lvl7pPr marL="1959193" algn="l" defTabSz="653064" rtl="0" eaLnBrk="1" latinLnBrk="0" hangingPunct="1">
      <a:defRPr sz="900" kern="1200">
        <a:solidFill>
          <a:schemeClr val="tx1"/>
        </a:solidFill>
        <a:latin typeface="+mn-lt"/>
        <a:ea typeface="+mn-ea"/>
        <a:cs typeface="+mn-cs"/>
      </a:defRPr>
    </a:lvl7pPr>
    <a:lvl8pPr marL="2285726" algn="l" defTabSz="653064" rtl="0" eaLnBrk="1" latinLnBrk="0" hangingPunct="1">
      <a:defRPr sz="900" kern="1200">
        <a:solidFill>
          <a:schemeClr val="tx1"/>
        </a:solidFill>
        <a:latin typeface="+mn-lt"/>
        <a:ea typeface="+mn-ea"/>
        <a:cs typeface="+mn-cs"/>
      </a:defRPr>
    </a:lvl8pPr>
    <a:lvl9pPr marL="2612258" algn="l" defTabSz="653064"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04D40FB-8398-4C90-906C-C9755161D6CD}" type="slidenum">
              <a:rPr lang="en-US"/>
              <a:pPr/>
              <a:t>1</a:t>
            </a:fld>
            <a:endParaRPr lang="en-US"/>
          </a:p>
        </p:txBody>
      </p:sp>
      <p:sp>
        <p:nvSpPr>
          <p:cNvPr id="4098" name="Rectangle 2"/>
          <p:cNvSpPr>
            <a:spLocks noGrp="1" noRot="1" noChangeAspect="1" noChangeArrowheads="1" noTextEdit="1"/>
          </p:cNvSpPr>
          <p:nvPr>
            <p:ph type="sldImg"/>
          </p:nvPr>
        </p:nvSpPr>
        <p:spPr>
          <a:xfrm>
            <a:off x="957263" y="719138"/>
            <a:ext cx="5402262" cy="3600450"/>
          </a:xfrm>
          <a:ln/>
        </p:spPr>
      </p:sp>
      <p:sp>
        <p:nvSpPr>
          <p:cNvPr id="409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164828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hyperlink" Target="http://www.megaprint.com/" TargetMode="External"/><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1.w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5" name="Picture 4">
            <a:hlinkClick r:id="rId3"/>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r="38727"/>
          <a:stretch>
            <a:fillRect/>
          </a:stretch>
        </p:blipFill>
        <p:spPr bwMode="auto">
          <a:xfrm>
            <a:off x="26871335" y="21597091"/>
            <a:ext cx="3106340" cy="14181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userDrawn="1"/>
        </p:nvSpPr>
        <p:spPr>
          <a:xfrm>
            <a:off x="30012268" y="21539200"/>
            <a:ext cx="1653137" cy="235221"/>
          </a:xfrm>
          <a:prstGeom prst="rect">
            <a:avLst/>
          </a:prstGeom>
          <a:noFill/>
        </p:spPr>
        <p:txBody>
          <a:bodyPr wrap="none" lIns="65306" tIns="32653" rIns="65306" bIns="32653" rtlCol="0">
            <a:spAutoFit/>
          </a:bodyPr>
          <a:lstStyle/>
          <a:p>
            <a:r>
              <a:rPr lang="en-US" sz="1100" dirty="0">
                <a:solidFill>
                  <a:schemeClr val="bg1"/>
                </a:solidFill>
              </a:rPr>
              <a:t>www.postersession.com</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3134937" rtl="0" fontAlgn="base">
        <a:spcBef>
          <a:spcPct val="0"/>
        </a:spcBef>
        <a:spcAft>
          <a:spcPct val="0"/>
        </a:spcAft>
        <a:defRPr sz="15100">
          <a:solidFill>
            <a:schemeClr val="tx2"/>
          </a:solidFill>
          <a:latin typeface="+mj-lt"/>
          <a:ea typeface="+mj-ea"/>
          <a:cs typeface="+mj-cs"/>
        </a:defRPr>
      </a:lvl1pPr>
      <a:lvl2pPr algn="ctr" defTabSz="3134937" rtl="0" fontAlgn="base">
        <a:spcBef>
          <a:spcPct val="0"/>
        </a:spcBef>
        <a:spcAft>
          <a:spcPct val="0"/>
        </a:spcAft>
        <a:defRPr sz="15100">
          <a:solidFill>
            <a:schemeClr val="tx2"/>
          </a:solidFill>
          <a:latin typeface="Arial" charset="0"/>
        </a:defRPr>
      </a:lvl2pPr>
      <a:lvl3pPr algn="ctr" defTabSz="3134937" rtl="0" fontAlgn="base">
        <a:spcBef>
          <a:spcPct val="0"/>
        </a:spcBef>
        <a:spcAft>
          <a:spcPct val="0"/>
        </a:spcAft>
        <a:defRPr sz="15100">
          <a:solidFill>
            <a:schemeClr val="tx2"/>
          </a:solidFill>
          <a:latin typeface="Arial" charset="0"/>
        </a:defRPr>
      </a:lvl3pPr>
      <a:lvl4pPr algn="ctr" defTabSz="3134937" rtl="0" fontAlgn="base">
        <a:spcBef>
          <a:spcPct val="0"/>
        </a:spcBef>
        <a:spcAft>
          <a:spcPct val="0"/>
        </a:spcAft>
        <a:defRPr sz="15100">
          <a:solidFill>
            <a:schemeClr val="tx2"/>
          </a:solidFill>
          <a:latin typeface="Arial" charset="0"/>
        </a:defRPr>
      </a:lvl4pPr>
      <a:lvl5pPr algn="ctr" defTabSz="3134937" rtl="0" fontAlgn="base">
        <a:spcBef>
          <a:spcPct val="0"/>
        </a:spcBef>
        <a:spcAft>
          <a:spcPct val="0"/>
        </a:spcAft>
        <a:defRPr sz="15100">
          <a:solidFill>
            <a:schemeClr val="tx2"/>
          </a:solidFill>
          <a:latin typeface="Arial" charset="0"/>
        </a:defRPr>
      </a:lvl5pPr>
      <a:lvl6pPr marL="326532" algn="ctr" defTabSz="3134937" rtl="0" fontAlgn="base">
        <a:spcBef>
          <a:spcPct val="0"/>
        </a:spcBef>
        <a:spcAft>
          <a:spcPct val="0"/>
        </a:spcAft>
        <a:defRPr sz="15100">
          <a:solidFill>
            <a:schemeClr val="tx2"/>
          </a:solidFill>
          <a:latin typeface="Arial" charset="0"/>
        </a:defRPr>
      </a:lvl6pPr>
      <a:lvl7pPr marL="653064" algn="ctr" defTabSz="3134937" rtl="0" fontAlgn="base">
        <a:spcBef>
          <a:spcPct val="0"/>
        </a:spcBef>
        <a:spcAft>
          <a:spcPct val="0"/>
        </a:spcAft>
        <a:defRPr sz="15100">
          <a:solidFill>
            <a:schemeClr val="tx2"/>
          </a:solidFill>
          <a:latin typeface="Arial" charset="0"/>
        </a:defRPr>
      </a:lvl7pPr>
      <a:lvl8pPr marL="979597" algn="ctr" defTabSz="3134937" rtl="0" fontAlgn="base">
        <a:spcBef>
          <a:spcPct val="0"/>
        </a:spcBef>
        <a:spcAft>
          <a:spcPct val="0"/>
        </a:spcAft>
        <a:defRPr sz="15100">
          <a:solidFill>
            <a:schemeClr val="tx2"/>
          </a:solidFill>
          <a:latin typeface="Arial" charset="0"/>
        </a:defRPr>
      </a:lvl8pPr>
      <a:lvl9pPr marL="1306129" algn="ctr" defTabSz="3134937" rtl="0" fontAlgn="base">
        <a:spcBef>
          <a:spcPct val="0"/>
        </a:spcBef>
        <a:spcAft>
          <a:spcPct val="0"/>
        </a:spcAft>
        <a:defRPr sz="15100">
          <a:solidFill>
            <a:schemeClr val="tx2"/>
          </a:solidFill>
          <a:latin typeface="Arial" charset="0"/>
        </a:defRPr>
      </a:lvl9pPr>
    </p:titleStyle>
    <p:bodyStyle>
      <a:lvl1pPr marL="1175743" indent="-1175743" algn="l" defTabSz="3134937" rtl="0" fontAlgn="base">
        <a:spcBef>
          <a:spcPct val="20000"/>
        </a:spcBef>
        <a:spcAft>
          <a:spcPct val="0"/>
        </a:spcAft>
        <a:buChar char="•"/>
        <a:defRPr sz="11000">
          <a:solidFill>
            <a:schemeClr val="tx1"/>
          </a:solidFill>
          <a:latin typeface="+mn-lt"/>
          <a:ea typeface="+mn-ea"/>
          <a:cs typeface="+mn-cs"/>
        </a:defRPr>
      </a:lvl1pPr>
      <a:lvl2pPr marL="2546498" indent="-979597" algn="l" defTabSz="3134937" rtl="0" fontAlgn="base">
        <a:spcBef>
          <a:spcPct val="20000"/>
        </a:spcBef>
        <a:spcAft>
          <a:spcPct val="0"/>
        </a:spcAft>
        <a:buChar char="–"/>
        <a:defRPr sz="9600">
          <a:solidFill>
            <a:schemeClr val="tx1"/>
          </a:solidFill>
          <a:latin typeface="+mn-lt"/>
        </a:defRPr>
      </a:lvl2pPr>
      <a:lvl3pPr marL="3918387" indent="-783451" algn="l" defTabSz="3134937" rtl="0" fontAlgn="base">
        <a:spcBef>
          <a:spcPct val="20000"/>
        </a:spcBef>
        <a:spcAft>
          <a:spcPct val="0"/>
        </a:spcAft>
        <a:buChar char="•"/>
        <a:defRPr sz="8200">
          <a:solidFill>
            <a:schemeClr val="tx1"/>
          </a:solidFill>
          <a:latin typeface="+mn-lt"/>
        </a:defRPr>
      </a:lvl3pPr>
      <a:lvl4pPr marL="5485288" indent="-783451" algn="l" defTabSz="3134937" rtl="0" fontAlgn="base">
        <a:spcBef>
          <a:spcPct val="20000"/>
        </a:spcBef>
        <a:spcAft>
          <a:spcPct val="0"/>
        </a:spcAft>
        <a:buChar char="–"/>
        <a:defRPr sz="6900">
          <a:solidFill>
            <a:schemeClr val="tx1"/>
          </a:solidFill>
          <a:latin typeface="+mn-lt"/>
        </a:defRPr>
      </a:lvl4pPr>
      <a:lvl5pPr marL="7053323" indent="-783451" algn="l" defTabSz="3134937" rtl="0" fontAlgn="base">
        <a:spcBef>
          <a:spcPct val="20000"/>
        </a:spcBef>
        <a:spcAft>
          <a:spcPct val="0"/>
        </a:spcAft>
        <a:buChar char="»"/>
        <a:defRPr sz="6900">
          <a:solidFill>
            <a:schemeClr val="tx1"/>
          </a:solidFill>
          <a:latin typeface="+mn-lt"/>
        </a:defRPr>
      </a:lvl5pPr>
      <a:lvl6pPr marL="7379856" indent="-783451" algn="l" defTabSz="3134937" rtl="0" fontAlgn="base">
        <a:spcBef>
          <a:spcPct val="20000"/>
        </a:spcBef>
        <a:spcAft>
          <a:spcPct val="0"/>
        </a:spcAft>
        <a:buChar char="»"/>
        <a:defRPr sz="6900">
          <a:solidFill>
            <a:schemeClr val="tx1"/>
          </a:solidFill>
          <a:latin typeface="+mn-lt"/>
        </a:defRPr>
      </a:lvl6pPr>
      <a:lvl7pPr marL="7706388" indent="-783451" algn="l" defTabSz="3134937" rtl="0" fontAlgn="base">
        <a:spcBef>
          <a:spcPct val="20000"/>
        </a:spcBef>
        <a:spcAft>
          <a:spcPct val="0"/>
        </a:spcAft>
        <a:buChar char="»"/>
        <a:defRPr sz="6900">
          <a:solidFill>
            <a:schemeClr val="tx1"/>
          </a:solidFill>
          <a:latin typeface="+mn-lt"/>
        </a:defRPr>
      </a:lvl7pPr>
      <a:lvl8pPr marL="8032920" indent="-783451" algn="l" defTabSz="3134937" rtl="0" fontAlgn="base">
        <a:spcBef>
          <a:spcPct val="20000"/>
        </a:spcBef>
        <a:spcAft>
          <a:spcPct val="0"/>
        </a:spcAft>
        <a:buChar char="»"/>
        <a:defRPr sz="6900">
          <a:solidFill>
            <a:schemeClr val="tx1"/>
          </a:solidFill>
          <a:latin typeface="+mn-lt"/>
        </a:defRPr>
      </a:lvl8pPr>
      <a:lvl9pPr marL="8359452" indent="-783451" algn="l" defTabSz="3134937" rtl="0" fontAlgn="base">
        <a:spcBef>
          <a:spcPct val="20000"/>
        </a:spcBef>
        <a:spcAft>
          <a:spcPct val="0"/>
        </a:spcAft>
        <a:buChar char="»"/>
        <a:defRPr sz="6900">
          <a:solidFill>
            <a:schemeClr val="tx1"/>
          </a:solidFill>
          <a:latin typeface="+mn-lt"/>
        </a:defRPr>
      </a:lvl9pPr>
    </p:bodyStyle>
    <p:otherStyle>
      <a:defPPr>
        <a:defRPr lang="en-US"/>
      </a:defPPr>
      <a:lvl1pPr marL="0" algn="l" defTabSz="653064" rtl="0" eaLnBrk="1" latinLnBrk="0" hangingPunct="1">
        <a:defRPr sz="1300" kern="1200">
          <a:solidFill>
            <a:schemeClr val="tx1"/>
          </a:solidFill>
          <a:latin typeface="+mn-lt"/>
          <a:ea typeface="+mn-ea"/>
          <a:cs typeface="+mn-cs"/>
        </a:defRPr>
      </a:lvl1pPr>
      <a:lvl2pPr marL="326532" algn="l" defTabSz="653064" rtl="0" eaLnBrk="1" latinLnBrk="0" hangingPunct="1">
        <a:defRPr sz="1300" kern="1200">
          <a:solidFill>
            <a:schemeClr val="tx1"/>
          </a:solidFill>
          <a:latin typeface="+mn-lt"/>
          <a:ea typeface="+mn-ea"/>
          <a:cs typeface="+mn-cs"/>
        </a:defRPr>
      </a:lvl2pPr>
      <a:lvl3pPr marL="653064" algn="l" defTabSz="653064" rtl="0" eaLnBrk="1" latinLnBrk="0" hangingPunct="1">
        <a:defRPr sz="1300" kern="1200">
          <a:solidFill>
            <a:schemeClr val="tx1"/>
          </a:solidFill>
          <a:latin typeface="+mn-lt"/>
          <a:ea typeface="+mn-ea"/>
          <a:cs typeface="+mn-cs"/>
        </a:defRPr>
      </a:lvl3pPr>
      <a:lvl4pPr marL="979597" algn="l" defTabSz="653064" rtl="0" eaLnBrk="1" latinLnBrk="0" hangingPunct="1">
        <a:defRPr sz="1300" kern="1200">
          <a:solidFill>
            <a:schemeClr val="tx1"/>
          </a:solidFill>
          <a:latin typeface="+mn-lt"/>
          <a:ea typeface="+mn-ea"/>
          <a:cs typeface="+mn-cs"/>
        </a:defRPr>
      </a:lvl4pPr>
      <a:lvl5pPr marL="1306129" algn="l" defTabSz="653064" rtl="0" eaLnBrk="1" latinLnBrk="0" hangingPunct="1">
        <a:defRPr sz="1300" kern="1200">
          <a:solidFill>
            <a:schemeClr val="tx1"/>
          </a:solidFill>
          <a:latin typeface="+mn-lt"/>
          <a:ea typeface="+mn-ea"/>
          <a:cs typeface="+mn-cs"/>
        </a:defRPr>
      </a:lvl5pPr>
      <a:lvl6pPr marL="1632661" algn="l" defTabSz="653064" rtl="0" eaLnBrk="1" latinLnBrk="0" hangingPunct="1">
        <a:defRPr sz="1300" kern="1200">
          <a:solidFill>
            <a:schemeClr val="tx1"/>
          </a:solidFill>
          <a:latin typeface="+mn-lt"/>
          <a:ea typeface="+mn-ea"/>
          <a:cs typeface="+mn-cs"/>
        </a:defRPr>
      </a:lvl6pPr>
      <a:lvl7pPr marL="1959193" algn="l" defTabSz="653064" rtl="0" eaLnBrk="1" latinLnBrk="0" hangingPunct="1">
        <a:defRPr sz="1300" kern="1200">
          <a:solidFill>
            <a:schemeClr val="tx1"/>
          </a:solidFill>
          <a:latin typeface="+mn-lt"/>
          <a:ea typeface="+mn-ea"/>
          <a:cs typeface="+mn-cs"/>
        </a:defRPr>
      </a:lvl7pPr>
      <a:lvl8pPr marL="2285726" algn="l" defTabSz="653064" rtl="0" eaLnBrk="1" latinLnBrk="0" hangingPunct="1">
        <a:defRPr sz="1300" kern="1200">
          <a:solidFill>
            <a:schemeClr val="tx1"/>
          </a:solidFill>
          <a:latin typeface="+mn-lt"/>
          <a:ea typeface="+mn-ea"/>
          <a:cs typeface="+mn-cs"/>
        </a:defRPr>
      </a:lvl8pPr>
      <a:lvl9pPr marL="2612258" algn="l" defTabSz="653064" rtl="0" eaLnBrk="1" latinLnBrk="0" hangingPunct="1">
        <a:defRPr sz="1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53000">
              <a:schemeClr val="bg1">
                <a:lumMod val="75000"/>
              </a:schemeClr>
            </a:gs>
            <a:gs pos="0">
              <a:schemeClr val="bg1">
                <a:lumMod val="75000"/>
              </a:schemeClr>
            </a:gs>
            <a:gs pos="100000">
              <a:srgbClr val="FFC000"/>
            </a:gs>
          </a:gsLst>
          <a:lin ang="5400000" scaled="1"/>
          <a:tileRect/>
        </a:gradFill>
        <a:effectLst/>
      </p:bgPr>
    </p:bg>
    <p:spTree>
      <p:nvGrpSpPr>
        <p:cNvPr id="1" name=""/>
        <p:cNvGrpSpPr/>
        <p:nvPr/>
      </p:nvGrpSpPr>
      <p:grpSpPr>
        <a:xfrm>
          <a:off x="0" y="0"/>
          <a:ext cx="0" cy="0"/>
          <a:chOff x="0" y="0"/>
          <a:chExt cx="0" cy="0"/>
        </a:xfrm>
      </p:grpSpPr>
      <p:sp>
        <p:nvSpPr>
          <p:cNvPr id="20" name="AutoShape 30"/>
          <p:cNvSpPr>
            <a:spLocks noChangeArrowheads="1"/>
          </p:cNvSpPr>
          <p:nvPr/>
        </p:nvSpPr>
        <p:spPr bwMode="auto">
          <a:xfrm>
            <a:off x="24717374" y="3911341"/>
            <a:ext cx="7772400" cy="17612228"/>
          </a:xfrm>
          <a:prstGeom prst="roundRect">
            <a:avLst>
              <a:gd name="adj" fmla="val 7000"/>
            </a:avLst>
          </a:prstGeom>
          <a:solidFill>
            <a:schemeClr val="bg1"/>
          </a:solidFill>
          <a:ln w="9525">
            <a:solidFill>
              <a:schemeClr val="tx1"/>
            </a:solidFill>
            <a:round/>
            <a:headEnd/>
            <a:tailEnd/>
          </a:ln>
          <a:effectLst/>
        </p:spPr>
        <p:txBody>
          <a:bodyPr wrap="none" lIns="65306" tIns="32653" rIns="65306" bIns="32653" anchor="ctr"/>
          <a:lstStyle/>
          <a:p>
            <a:endParaRPr lang="en-US" sz="4400" b="1" dirty="0">
              <a:latin typeface="+mj-lt"/>
            </a:endParaRPr>
          </a:p>
          <a:p>
            <a:endParaRPr lang="en-US" sz="4400" b="1" dirty="0">
              <a:latin typeface="+mj-lt"/>
            </a:endParaRPr>
          </a:p>
          <a:p>
            <a:endParaRPr lang="en-US" sz="4400" b="1" dirty="0">
              <a:latin typeface="+mj-lt"/>
            </a:endParaRPr>
          </a:p>
          <a:p>
            <a:endParaRPr lang="en-US" sz="4400" b="1" dirty="0">
              <a:latin typeface="+mj-lt"/>
            </a:endParaRPr>
          </a:p>
          <a:p>
            <a:endParaRPr lang="en-US" sz="4400" b="1" dirty="0">
              <a:latin typeface="+mj-lt"/>
            </a:endParaRPr>
          </a:p>
        </p:txBody>
      </p:sp>
      <p:sp>
        <p:nvSpPr>
          <p:cNvPr id="21" name="AutoShape 29"/>
          <p:cNvSpPr>
            <a:spLocks noChangeArrowheads="1"/>
          </p:cNvSpPr>
          <p:nvPr/>
        </p:nvSpPr>
        <p:spPr bwMode="auto">
          <a:xfrm>
            <a:off x="8573931" y="3911341"/>
            <a:ext cx="7772400" cy="17659383"/>
          </a:xfrm>
          <a:prstGeom prst="roundRect">
            <a:avLst>
              <a:gd name="adj" fmla="val 7000"/>
            </a:avLst>
          </a:prstGeom>
          <a:solidFill>
            <a:schemeClr val="bg1"/>
          </a:solidFill>
          <a:ln w="9525">
            <a:solidFill>
              <a:schemeClr val="tx1"/>
            </a:solidFill>
            <a:round/>
            <a:headEnd/>
            <a:tailEnd/>
          </a:ln>
          <a:effectLst/>
        </p:spPr>
        <p:txBody>
          <a:bodyPr wrap="none" lIns="65306" tIns="32653" rIns="65306" bIns="32653" anchor="ctr"/>
          <a:lstStyle/>
          <a:p>
            <a:endParaRPr lang="en-US" dirty="0">
              <a:latin typeface="+mj-lt"/>
            </a:endParaRPr>
          </a:p>
        </p:txBody>
      </p:sp>
      <p:sp>
        <p:nvSpPr>
          <p:cNvPr id="22" name="AutoShape 31"/>
          <p:cNvSpPr>
            <a:spLocks noChangeArrowheads="1"/>
          </p:cNvSpPr>
          <p:nvPr/>
        </p:nvSpPr>
        <p:spPr bwMode="auto">
          <a:xfrm>
            <a:off x="16721384" y="3911341"/>
            <a:ext cx="7772400" cy="17612228"/>
          </a:xfrm>
          <a:prstGeom prst="roundRect">
            <a:avLst>
              <a:gd name="adj" fmla="val 7000"/>
            </a:avLst>
          </a:prstGeom>
          <a:solidFill>
            <a:schemeClr val="bg1"/>
          </a:solidFill>
          <a:ln w="9525">
            <a:solidFill>
              <a:schemeClr val="tx1"/>
            </a:solidFill>
            <a:round/>
            <a:headEnd/>
            <a:tailEnd/>
          </a:ln>
          <a:effectLst/>
        </p:spPr>
        <p:txBody>
          <a:bodyPr wrap="none" lIns="65306" tIns="32653" rIns="65306" bIns="32653" anchor="ctr"/>
          <a:lstStyle/>
          <a:p>
            <a:endParaRPr lang="en-US" dirty="0">
              <a:latin typeface="+mj-lt"/>
            </a:endParaRPr>
          </a:p>
        </p:txBody>
      </p:sp>
      <p:sp>
        <p:nvSpPr>
          <p:cNvPr id="23" name="AutoShape 4"/>
          <p:cNvSpPr>
            <a:spLocks noChangeArrowheads="1"/>
          </p:cNvSpPr>
          <p:nvPr/>
        </p:nvSpPr>
        <p:spPr bwMode="auto">
          <a:xfrm>
            <a:off x="457200" y="3911341"/>
            <a:ext cx="7772400" cy="17612228"/>
          </a:xfrm>
          <a:prstGeom prst="roundRect">
            <a:avLst>
              <a:gd name="adj" fmla="val 7000"/>
            </a:avLst>
          </a:prstGeom>
          <a:solidFill>
            <a:schemeClr val="bg1"/>
          </a:solidFill>
          <a:ln w="9525">
            <a:solidFill>
              <a:schemeClr val="tx1"/>
            </a:solidFill>
            <a:round/>
            <a:headEnd/>
            <a:tailEnd/>
          </a:ln>
          <a:effectLst/>
        </p:spPr>
        <p:txBody>
          <a:bodyPr wrap="none" lIns="65306" tIns="32653" rIns="65306" bIns="32653" anchor="ctr"/>
          <a:lstStyle/>
          <a:p>
            <a:endParaRPr lang="en-US" dirty="0">
              <a:latin typeface="+mj-lt"/>
            </a:endParaRPr>
          </a:p>
        </p:txBody>
      </p:sp>
      <p:sp>
        <p:nvSpPr>
          <p:cNvPr id="2059" name="Text Box 11"/>
          <p:cNvSpPr txBox="1">
            <a:spLocks noChangeArrowheads="1"/>
          </p:cNvSpPr>
          <p:nvPr/>
        </p:nvSpPr>
        <p:spPr bwMode="auto">
          <a:xfrm>
            <a:off x="24974146" y="12584774"/>
            <a:ext cx="7372350" cy="804608"/>
          </a:xfrm>
          <a:prstGeom prst="rect">
            <a:avLst/>
          </a:prstGeom>
          <a:noFill/>
          <a:ln w="9525">
            <a:noFill/>
            <a:miter lim="800000"/>
            <a:headEnd/>
            <a:tailEnd/>
          </a:ln>
          <a:effectLst/>
        </p:spPr>
        <p:txBody>
          <a:bodyPr lIns="65306" tIns="32653" rIns="65306" bIns="32653">
            <a:spAutoFit/>
          </a:bodyPr>
          <a:lstStyle/>
          <a:p>
            <a:pPr defTabSz="3134937">
              <a:spcBef>
                <a:spcPct val="50000"/>
              </a:spcBef>
            </a:pPr>
            <a:r>
              <a:rPr lang="en-US" sz="4800" b="1" dirty="0">
                <a:latin typeface="+mj-lt"/>
              </a:rPr>
              <a:t>Conclusions</a:t>
            </a:r>
          </a:p>
        </p:txBody>
      </p:sp>
      <p:sp>
        <p:nvSpPr>
          <p:cNvPr id="2061" name="AutoShape 13"/>
          <p:cNvSpPr>
            <a:spLocks noChangeArrowheads="1"/>
          </p:cNvSpPr>
          <p:nvPr/>
        </p:nvSpPr>
        <p:spPr bwMode="auto">
          <a:xfrm>
            <a:off x="514350" y="254000"/>
            <a:ext cx="31889700" cy="3435134"/>
          </a:xfrm>
          <a:prstGeom prst="roundRect">
            <a:avLst>
              <a:gd name="adj" fmla="val 10870"/>
            </a:avLst>
          </a:prstGeom>
          <a:solidFill>
            <a:srgbClr val="FDE745"/>
          </a:solidFill>
          <a:ln>
            <a:headEnd/>
            <a:tailEnd/>
          </a:ln>
        </p:spPr>
        <p:style>
          <a:lnRef idx="1">
            <a:schemeClr val="accent5"/>
          </a:lnRef>
          <a:fillRef idx="3">
            <a:schemeClr val="accent5"/>
          </a:fillRef>
          <a:effectRef idx="2">
            <a:schemeClr val="accent5"/>
          </a:effectRef>
          <a:fontRef idx="minor">
            <a:schemeClr val="lt1"/>
          </a:fontRef>
        </p:style>
        <p:txBody>
          <a:bodyPr wrap="none" lIns="65306" tIns="32653" rIns="65306" bIns="32653" anchor="ctr"/>
          <a:lstStyle/>
          <a:p>
            <a:pPr defTabSz="3134937"/>
            <a:endParaRPr lang="en-US">
              <a:solidFill>
                <a:schemeClr val="bg1"/>
              </a:solidFill>
              <a:latin typeface="+mj-lt"/>
            </a:endParaRPr>
          </a:p>
        </p:txBody>
      </p:sp>
      <p:sp>
        <p:nvSpPr>
          <p:cNvPr id="2075" name="Text Box 27"/>
          <p:cNvSpPr txBox="1">
            <a:spLocks noChangeArrowheads="1"/>
          </p:cNvSpPr>
          <p:nvPr/>
        </p:nvSpPr>
        <p:spPr bwMode="auto">
          <a:xfrm>
            <a:off x="25364045" y="15990865"/>
            <a:ext cx="6229350" cy="681497"/>
          </a:xfrm>
          <a:prstGeom prst="rect">
            <a:avLst/>
          </a:prstGeom>
          <a:noFill/>
          <a:ln w="9525">
            <a:noFill/>
            <a:miter lim="800000"/>
            <a:headEnd/>
            <a:tailEnd/>
          </a:ln>
          <a:effectLst/>
        </p:spPr>
        <p:txBody>
          <a:bodyPr lIns="65306" tIns="32653" rIns="65306" bIns="32653">
            <a:spAutoFit/>
          </a:bodyPr>
          <a:lstStyle/>
          <a:p>
            <a:pPr defTabSz="3134937">
              <a:spcBef>
                <a:spcPct val="50000"/>
              </a:spcBef>
            </a:pPr>
            <a:r>
              <a:rPr lang="en-US" sz="4000" b="1" dirty="0">
                <a:latin typeface="+mj-lt"/>
              </a:rPr>
              <a:t>Bibliography</a:t>
            </a:r>
          </a:p>
        </p:txBody>
      </p:sp>
      <p:sp>
        <p:nvSpPr>
          <p:cNvPr id="2086" name="Text Box 38"/>
          <p:cNvSpPr txBox="1">
            <a:spLocks noChangeArrowheads="1"/>
          </p:cNvSpPr>
          <p:nvPr/>
        </p:nvSpPr>
        <p:spPr bwMode="auto">
          <a:xfrm>
            <a:off x="25028440" y="16820113"/>
            <a:ext cx="7461334" cy="4956227"/>
          </a:xfrm>
          <a:prstGeom prst="rect">
            <a:avLst/>
          </a:prstGeom>
          <a:noFill/>
          <a:ln w="57150" cmpd="thinThick">
            <a:noFill/>
            <a:miter lim="800000"/>
            <a:headEnd/>
            <a:tailEnd/>
          </a:ln>
          <a:effectLst/>
        </p:spPr>
        <p:txBody>
          <a:bodyPr wrap="square" lIns="43688" tIns="21843" rIns="43688" bIns="21843">
            <a:spAutoFit/>
          </a:bodyPr>
          <a:lstStyle/>
          <a:p>
            <a:pPr marL="244899" indent="-244899" algn="l" defTabSz="437644" eaLnBrk="0" hangingPunct="0">
              <a:lnSpc>
                <a:spcPct val="95000"/>
              </a:lnSpc>
              <a:buFontTx/>
              <a:buAutoNum type="arabicPeriod"/>
            </a:pPr>
            <a:r>
              <a:rPr lang="en-US" sz="2800" dirty="0"/>
              <a:t>Hill, Alessandro, Kalen Goo, and Puneet Agarwal. "Recommending the right academic programs: an interest mining approach using </a:t>
            </a:r>
            <a:r>
              <a:rPr lang="en-US" sz="2800" dirty="0" err="1"/>
              <a:t>BERTopic</a:t>
            </a:r>
            <a:r>
              <a:rPr lang="en-US" sz="2800" dirty="0"/>
              <a:t>." </a:t>
            </a:r>
            <a:r>
              <a:rPr lang="en-US" sz="2800" i="1" dirty="0"/>
              <a:t>Data Mining and Knowledge Discovery</a:t>
            </a:r>
            <a:r>
              <a:rPr lang="en-US" sz="2800" dirty="0"/>
              <a:t> 39.3 (2025): 1-40.</a:t>
            </a:r>
          </a:p>
          <a:p>
            <a:pPr marL="244899" indent="-244899" algn="l" defTabSz="437644" eaLnBrk="0" hangingPunct="0">
              <a:lnSpc>
                <a:spcPct val="95000"/>
              </a:lnSpc>
              <a:buFontTx/>
              <a:buAutoNum type="arabicPeriod"/>
            </a:pPr>
            <a:r>
              <a:rPr lang="en-US" sz="2800" dirty="0" err="1"/>
              <a:t>Khodeir</a:t>
            </a:r>
            <a:r>
              <a:rPr lang="en-US" sz="2800" dirty="0"/>
              <a:t>, Nabila, and Fatma </a:t>
            </a:r>
            <a:r>
              <a:rPr lang="en-US" sz="2800" dirty="0" err="1"/>
              <a:t>Elghannam</a:t>
            </a:r>
            <a:r>
              <a:rPr lang="en-US" sz="2800" dirty="0"/>
              <a:t>. "Efficient topic identification for urgent MOOC Forum posts using </a:t>
            </a:r>
            <a:r>
              <a:rPr lang="en-US" sz="2800" dirty="0" err="1"/>
              <a:t>BERTopic</a:t>
            </a:r>
            <a:r>
              <a:rPr lang="en-US" sz="2800" dirty="0"/>
              <a:t> and traditional topic modeling techniques." </a:t>
            </a:r>
            <a:r>
              <a:rPr lang="en-US" sz="2800" i="1" dirty="0"/>
              <a:t>Education and Information Technologies</a:t>
            </a:r>
            <a:r>
              <a:rPr lang="en-US" sz="2800" dirty="0"/>
              <a:t> 30.5 (2025): 5501-5527.</a:t>
            </a:r>
          </a:p>
          <a:p>
            <a:pPr marL="244899" indent="-244899" algn="l" defTabSz="437644" eaLnBrk="0" hangingPunct="0">
              <a:lnSpc>
                <a:spcPct val="95000"/>
              </a:lnSpc>
              <a:buFontTx/>
              <a:buAutoNum type="arabicPeriod"/>
            </a:pPr>
            <a:endParaRPr lang="en-US" sz="2800" b="1" dirty="0">
              <a:latin typeface="+mj-lt"/>
            </a:endParaRPr>
          </a:p>
        </p:txBody>
      </p:sp>
      <p:sp>
        <p:nvSpPr>
          <p:cNvPr id="2088" name="Text Box 40"/>
          <p:cNvSpPr txBox="1">
            <a:spLocks noChangeArrowheads="1"/>
          </p:cNvSpPr>
          <p:nvPr/>
        </p:nvSpPr>
        <p:spPr bwMode="auto">
          <a:xfrm>
            <a:off x="24959013" y="13525126"/>
            <a:ext cx="7502187" cy="2198549"/>
          </a:xfrm>
          <a:prstGeom prst="rect">
            <a:avLst/>
          </a:prstGeom>
          <a:noFill/>
          <a:ln w="57150" cmpd="thinThick">
            <a:noFill/>
            <a:miter lim="800000"/>
            <a:headEnd/>
            <a:tailEnd/>
          </a:ln>
          <a:effectLst/>
        </p:spPr>
        <p:txBody>
          <a:bodyPr wrap="square" lIns="43688" tIns="21843" rIns="43688" bIns="21843">
            <a:spAutoFit/>
          </a:bodyPr>
          <a:lstStyle/>
          <a:p>
            <a:pPr marL="457200" indent="-457200" algn="l">
              <a:buFont typeface="Arial" panose="020B0604020202020204" pitchFamily="34" charset="0"/>
              <a:buChar char="•"/>
            </a:pPr>
            <a:r>
              <a:rPr lang="en-US" sz="2800" dirty="0"/>
              <a:t>Our analysis demonstrates how </a:t>
            </a:r>
            <a:r>
              <a:rPr lang="en-US" sz="2800" dirty="0" err="1"/>
              <a:t>BERTopic</a:t>
            </a:r>
            <a:r>
              <a:rPr lang="en-US" sz="2800" dirty="0"/>
              <a:t> can be used to summarize and interpret complex job postings, offering actionable insights for job seekers, recruiters, and curriculum designers.</a:t>
            </a:r>
          </a:p>
        </p:txBody>
      </p:sp>
      <p:sp>
        <p:nvSpPr>
          <p:cNvPr id="24" name="Text Box 9"/>
          <p:cNvSpPr txBox="1">
            <a:spLocks noChangeArrowheads="1"/>
          </p:cNvSpPr>
          <p:nvPr/>
        </p:nvSpPr>
        <p:spPr bwMode="auto">
          <a:xfrm>
            <a:off x="698910" y="5218437"/>
            <a:ext cx="7288979" cy="4978058"/>
          </a:xfrm>
          <a:prstGeom prst="rect">
            <a:avLst/>
          </a:prstGeom>
          <a:noFill/>
          <a:ln w="9525">
            <a:noFill/>
            <a:miter lim="800000"/>
            <a:headEnd/>
            <a:tailEnd/>
          </a:ln>
          <a:effectLst/>
        </p:spPr>
        <p:txBody>
          <a:bodyPr wrap="square" lIns="65306" tIns="32653" rIns="65306" bIns="32653">
            <a:spAutoFit/>
          </a:bodyPr>
          <a:lstStyle/>
          <a:p>
            <a:pPr marL="457200" indent="-457200" algn="l" defTabSz="4389438" eaLnBrk="0" hangingPunct="0">
              <a:lnSpc>
                <a:spcPct val="95000"/>
              </a:lnSpc>
              <a:buFont typeface="Arial" panose="020B0604020202020204" pitchFamily="34" charset="0"/>
              <a:buChar char="•"/>
            </a:pPr>
            <a:r>
              <a:rPr lang="en-US" sz="2800" dirty="0"/>
              <a:t>Job descriptions contain rich signals about the evolving demands of data science work and expectations that shape modern data science roles. Uncovering these themes provides valuable insight into employer priorities and the broader market landscape.</a:t>
            </a:r>
          </a:p>
          <a:p>
            <a:pPr marL="457200" indent="-457200" algn="l" defTabSz="4389438" eaLnBrk="0" hangingPunct="0">
              <a:lnSpc>
                <a:spcPct val="95000"/>
              </a:lnSpc>
              <a:buFont typeface="Arial" panose="020B0604020202020204" pitchFamily="34" charset="0"/>
              <a:buChar char="•"/>
            </a:pPr>
            <a:r>
              <a:rPr lang="en-US" sz="2800" dirty="0"/>
              <a:t>To better understand the thematic content and hidden trends within a Data Science job posting, we applied </a:t>
            </a:r>
            <a:r>
              <a:rPr lang="en-US" sz="2800" dirty="0" err="1"/>
              <a:t>BERTopic</a:t>
            </a:r>
            <a:r>
              <a:rPr lang="en-US" sz="2800" dirty="0"/>
              <a:t>, a transformer-based topic modeling method, to extract and interpret dominant themes.</a:t>
            </a:r>
            <a:endParaRPr lang="en-US" sz="2800" dirty="0">
              <a:latin typeface="+mj-lt"/>
            </a:endParaRPr>
          </a:p>
        </p:txBody>
      </p:sp>
      <p:sp>
        <p:nvSpPr>
          <p:cNvPr id="26" name="Text Box 42"/>
          <p:cNvSpPr txBox="1">
            <a:spLocks noChangeArrowheads="1"/>
          </p:cNvSpPr>
          <p:nvPr/>
        </p:nvSpPr>
        <p:spPr bwMode="auto">
          <a:xfrm>
            <a:off x="700439" y="4191622"/>
            <a:ext cx="7372350" cy="804608"/>
          </a:xfrm>
          <a:prstGeom prst="rect">
            <a:avLst/>
          </a:prstGeom>
          <a:noFill/>
          <a:ln w="9525">
            <a:noFill/>
            <a:miter lim="800000"/>
            <a:headEnd/>
            <a:tailEnd/>
          </a:ln>
          <a:effectLst/>
        </p:spPr>
        <p:txBody>
          <a:bodyPr lIns="65306" tIns="32653" rIns="65306" bIns="32653">
            <a:spAutoFit/>
          </a:bodyPr>
          <a:lstStyle/>
          <a:p>
            <a:r>
              <a:rPr lang="en-US" sz="4800" b="1" dirty="0">
                <a:latin typeface="+mj-lt"/>
                <a:cs typeface="Times New Roman" pitchFamily="18" charset="0"/>
              </a:rPr>
              <a:t>Introduction</a:t>
            </a:r>
            <a:endParaRPr lang="en-US" sz="2000" dirty="0">
              <a:latin typeface="+mj-lt"/>
              <a:cs typeface="Times New Roman" pitchFamily="18" charset="0"/>
            </a:endParaRPr>
          </a:p>
        </p:txBody>
      </p:sp>
      <p:sp>
        <p:nvSpPr>
          <p:cNvPr id="3" name="TextBox 2">
            <a:extLst>
              <a:ext uri="{FF2B5EF4-FFF2-40B4-BE49-F238E27FC236}">
                <a16:creationId xmlns:a16="http://schemas.microsoft.com/office/drawing/2014/main" id="{449176E3-CD26-4928-868F-1F03895DE45D}"/>
              </a:ext>
            </a:extLst>
          </p:cNvPr>
          <p:cNvSpPr txBox="1"/>
          <p:nvPr/>
        </p:nvSpPr>
        <p:spPr>
          <a:xfrm>
            <a:off x="8855869" y="9519062"/>
            <a:ext cx="6806894" cy="400110"/>
          </a:xfrm>
          <a:prstGeom prst="rect">
            <a:avLst/>
          </a:prstGeom>
          <a:noFill/>
        </p:spPr>
        <p:txBody>
          <a:bodyPr wrap="square" rtlCol="0">
            <a:spAutoFit/>
          </a:bodyPr>
          <a:lstStyle/>
          <a:p>
            <a:pPr algn="l"/>
            <a:endParaRPr lang="en-US" sz="2000" dirty="0">
              <a:latin typeface="+mj-lt"/>
            </a:endParaRPr>
          </a:p>
        </p:txBody>
      </p:sp>
      <p:sp>
        <p:nvSpPr>
          <p:cNvPr id="32" name="Text Box 14">
            <a:extLst>
              <a:ext uri="{FF2B5EF4-FFF2-40B4-BE49-F238E27FC236}">
                <a16:creationId xmlns:a16="http://schemas.microsoft.com/office/drawing/2014/main" id="{665DCCC7-866B-8444-8109-11D42C98DCE4}"/>
              </a:ext>
            </a:extLst>
          </p:cNvPr>
          <p:cNvSpPr txBox="1">
            <a:spLocks noChangeArrowheads="1"/>
          </p:cNvSpPr>
          <p:nvPr/>
        </p:nvSpPr>
        <p:spPr bwMode="auto">
          <a:xfrm>
            <a:off x="7759700" y="342169"/>
            <a:ext cx="19278600" cy="3312986"/>
          </a:xfrm>
          <a:prstGeom prst="rect">
            <a:avLst/>
          </a:prstGeom>
          <a:noFill/>
          <a:ln w="9525">
            <a:noFill/>
            <a:miter lim="800000"/>
            <a:headEnd/>
            <a:tailEnd/>
          </a:ln>
          <a:effectLst/>
        </p:spPr>
        <p:txBody>
          <a:bodyPr wrap="square" lIns="65306" tIns="32653" rIns="65306" bIns="32653">
            <a:spAutoFit/>
          </a:bodyPr>
          <a:lstStyle/>
          <a:p>
            <a:pPr defTabSz="3134937">
              <a:spcBef>
                <a:spcPts val="0"/>
              </a:spcBef>
              <a:spcAft>
                <a:spcPts val="600"/>
              </a:spcAft>
            </a:pPr>
            <a:r>
              <a:rPr lang="en-US" sz="5000" b="1" dirty="0">
                <a:latin typeface="+mj-lt"/>
              </a:rPr>
              <a:t>Identifying Thematic Trends in Data Science Job Descriptions u</a:t>
            </a:r>
            <a:r>
              <a:rPr lang="en-US" sz="5000" b="1" dirty="0"/>
              <a:t>sing </a:t>
            </a:r>
            <a:r>
              <a:rPr lang="en-US" sz="5000" b="1" dirty="0" err="1"/>
              <a:t>BERTopic</a:t>
            </a:r>
            <a:r>
              <a:rPr lang="en-US" sz="5000" b="1" dirty="0"/>
              <a:t> </a:t>
            </a:r>
            <a:endParaRPr lang="en-US" sz="5000" b="1" dirty="0">
              <a:latin typeface="+mj-lt"/>
            </a:endParaRPr>
          </a:p>
          <a:p>
            <a:pPr defTabSz="3134937">
              <a:spcBef>
                <a:spcPts val="0"/>
              </a:spcBef>
              <a:spcAft>
                <a:spcPts val="600"/>
              </a:spcAft>
            </a:pPr>
            <a:r>
              <a:rPr lang="en-US" sz="3600" b="1" dirty="0">
                <a:latin typeface="+mj-lt"/>
              </a:rPr>
              <a:t>Denley Tran </a:t>
            </a:r>
          </a:p>
          <a:p>
            <a:pPr defTabSz="3134937">
              <a:spcBef>
                <a:spcPts val="0"/>
              </a:spcBef>
              <a:spcAft>
                <a:spcPts val="600"/>
              </a:spcAft>
            </a:pPr>
            <a:r>
              <a:rPr lang="en-US" sz="2800" b="1" dirty="0">
                <a:latin typeface="+mj-lt"/>
              </a:rPr>
              <a:t>Advisor: Weijie Pang (PhD), Ying Wang (</a:t>
            </a:r>
            <a:r>
              <a:rPr lang="en-US" sz="2800" b="1" dirty="0"/>
              <a:t>PhD)</a:t>
            </a:r>
            <a:endParaRPr lang="en-US" sz="2800" b="1" dirty="0">
              <a:latin typeface="+mj-lt"/>
            </a:endParaRPr>
          </a:p>
          <a:p>
            <a:pPr defTabSz="3134937">
              <a:spcBef>
                <a:spcPts val="0"/>
              </a:spcBef>
              <a:spcAft>
                <a:spcPts val="600"/>
              </a:spcAft>
            </a:pPr>
            <a:r>
              <a:rPr lang="en-US" sz="3200" b="1" dirty="0"/>
              <a:t>School of Computing and Data Science,</a:t>
            </a:r>
            <a:r>
              <a:rPr lang="en-US" sz="3200" dirty="0"/>
              <a:t> </a:t>
            </a:r>
            <a:r>
              <a:rPr lang="en-US" sz="3200" b="1" dirty="0"/>
              <a:t>Wentworth Institute of Technology</a:t>
            </a:r>
            <a:endParaRPr lang="en-US" sz="3600" b="1" dirty="0"/>
          </a:p>
        </p:txBody>
      </p:sp>
      <p:sp>
        <p:nvSpPr>
          <p:cNvPr id="35" name="Text Box 10">
            <a:extLst>
              <a:ext uri="{FF2B5EF4-FFF2-40B4-BE49-F238E27FC236}">
                <a16:creationId xmlns:a16="http://schemas.microsoft.com/office/drawing/2014/main" id="{C355A3B8-924E-3F40-B635-52923CDBA147}"/>
              </a:ext>
            </a:extLst>
          </p:cNvPr>
          <p:cNvSpPr txBox="1">
            <a:spLocks noChangeArrowheads="1"/>
          </p:cNvSpPr>
          <p:nvPr/>
        </p:nvSpPr>
        <p:spPr bwMode="auto">
          <a:xfrm>
            <a:off x="24917399" y="4164112"/>
            <a:ext cx="7372350" cy="804608"/>
          </a:xfrm>
          <a:prstGeom prst="rect">
            <a:avLst/>
          </a:prstGeom>
          <a:noFill/>
          <a:ln w="9525">
            <a:noFill/>
            <a:miter lim="800000"/>
            <a:headEnd/>
            <a:tailEnd/>
          </a:ln>
          <a:effectLst/>
        </p:spPr>
        <p:txBody>
          <a:bodyPr lIns="65306" tIns="32653" rIns="65306" bIns="32653">
            <a:spAutoFit/>
          </a:bodyPr>
          <a:lstStyle/>
          <a:p>
            <a:pPr defTabSz="3134937">
              <a:spcBef>
                <a:spcPct val="50000"/>
              </a:spcBef>
            </a:pPr>
            <a:r>
              <a:rPr lang="en-US" sz="4800" b="1" dirty="0">
                <a:latin typeface="+mj-lt"/>
              </a:rPr>
              <a:t>Discussion</a:t>
            </a:r>
          </a:p>
        </p:txBody>
      </p:sp>
      <p:sp>
        <p:nvSpPr>
          <p:cNvPr id="36" name="Text Box 9">
            <a:extLst>
              <a:ext uri="{FF2B5EF4-FFF2-40B4-BE49-F238E27FC236}">
                <a16:creationId xmlns:a16="http://schemas.microsoft.com/office/drawing/2014/main" id="{5744F0C5-9C76-A246-8792-3A524A51E256}"/>
              </a:ext>
            </a:extLst>
          </p:cNvPr>
          <p:cNvSpPr txBox="1">
            <a:spLocks noChangeArrowheads="1"/>
          </p:cNvSpPr>
          <p:nvPr/>
        </p:nvSpPr>
        <p:spPr bwMode="auto">
          <a:xfrm>
            <a:off x="25038310" y="4961390"/>
            <a:ext cx="7365740" cy="7544914"/>
          </a:xfrm>
          <a:prstGeom prst="rect">
            <a:avLst/>
          </a:prstGeom>
          <a:noFill/>
          <a:ln w="9525">
            <a:noFill/>
            <a:miter lim="800000"/>
            <a:headEnd/>
            <a:tailEnd/>
          </a:ln>
          <a:effectLst/>
        </p:spPr>
        <p:txBody>
          <a:bodyPr wrap="square" lIns="65306" tIns="32653" rIns="65306" bIns="32653">
            <a:spAutoFit/>
          </a:bodyPr>
          <a:lstStyle/>
          <a:p>
            <a:pPr marL="457200" indent="-457200" algn="l">
              <a:spcAft>
                <a:spcPts val="600"/>
              </a:spcAft>
              <a:buFont typeface="Arial" panose="020B0604020202020204" pitchFamily="34" charset="0"/>
              <a:buChar char="•"/>
            </a:pPr>
            <a:r>
              <a:rPr lang="en-US" sz="2800" dirty="0"/>
              <a:t>The extracted topics provide a holistic perspective on job requirements by integrating technical skills, domain-specific knowledge, organizational considerations, compensation/benefits and job expectation.  </a:t>
            </a:r>
          </a:p>
          <a:p>
            <a:pPr marL="457200" indent="-457200" algn="l">
              <a:spcAft>
                <a:spcPts val="600"/>
              </a:spcAft>
              <a:buFont typeface="Arial" panose="020B0604020202020204" pitchFamily="34" charset="0"/>
              <a:buChar char="•"/>
            </a:pPr>
            <a:r>
              <a:rPr lang="en-US" sz="2800" dirty="0"/>
              <a:t>The analysis of 2023 postings indicates a growing trend in data-science roles involving healthcare-related applications.</a:t>
            </a:r>
          </a:p>
          <a:p>
            <a:pPr marL="457200" indent="-457200" algn="l">
              <a:spcAft>
                <a:spcPts val="600"/>
              </a:spcAft>
              <a:buFont typeface="Arial" panose="020B0604020202020204" pitchFamily="34" charset="0"/>
              <a:buChar char="•"/>
            </a:pPr>
            <a:r>
              <a:rPr lang="en-US" sz="2800" dirty="0"/>
              <a:t>The study sample is relatively small and restricted to a single year, which limits the generalizability of the findings and prevents analysis of temporal trends or evolving patterns in job requirements. Future research could examine larger, multi-year datasets to identify trends and changes in job requirements over time.</a:t>
            </a:r>
          </a:p>
        </p:txBody>
      </p:sp>
      <p:sp>
        <p:nvSpPr>
          <p:cNvPr id="38" name="Text Box 10">
            <a:extLst>
              <a:ext uri="{FF2B5EF4-FFF2-40B4-BE49-F238E27FC236}">
                <a16:creationId xmlns:a16="http://schemas.microsoft.com/office/drawing/2014/main" id="{085C4CCE-C73D-114D-A857-FBBD54127551}"/>
              </a:ext>
            </a:extLst>
          </p:cNvPr>
          <p:cNvSpPr txBox="1">
            <a:spLocks noChangeArrowheads="1"/>
          </p:cNvSpPr>
          <p:nvPr/>
        </p:nvSpPr>
        <p:spPr bwMode="auto">
          <a:xfrm>
            <a:off x="17060348" y="4164112"/>
            <a:ext cx="7372350" cy="804608"/>
          </a:xfrm>
          <a:prstGeom prst="rect">
            <a:avLst/>
          </a:prstGeom>
          <a:noFill/>
          <a:ln w="9525">
            <a:noFill/>
            <a:miter lim="800000"/>
            <a:headEnd/>
            <a:tailEnd/>
          </a:ln>
          <a:effectLst/>
        </p:spPr>
        <p:txBody>
          <a:bodyPr lIns="65306" tIns="32653" rIns="65306" bIns="32653">
            <a:spAutoFit/>
          </a:bodyPr>
          <a:lstStyle/>
          <a:p>
            <a:pPr defTabSz="3134937">
              <a:spcBef>
                <a:spcPct val="50000"/>
              </a:spcBef>
            </a:pPr>
            <a:r>
              <a:rPr lang="en-US" sz="4800" b="1" dirty="0">
                <a:latin typeface="+mj-lt"/>
              </a:rPr>
              <a:t>Results</a:t>
            </a:r>
          </a:p>
        </p:txBody>
      </p:sp>
      <p:pic>
        <p:nvPicPr>
          <p:cNvPr id="40" name="Picture 39">
            <a:extLst>
              <a:ext uri="{FF2B5EF4-FFF2-40B4-BE49-F238E27FC236}">
                <a16:creationId xmlns:a16="http://schemas.microsoft.com/office/drawing/2014/main" id="{DC03FC6D-1CC1-054B-85A2-7BD356FCF0C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57200" y="913904"/>
            <a:ext cx="6985002" cy="1851026"/>
          </a:xfrm>
          <a:prstGeom prst="rect">
            <a:avLst/>
          </a:prstGeom>
        </p:spPr>
      </p:pic>
      <p:pic>
        <p:nvPicPr>
          <p:cNvPr id="5" name="Picture 2" descr="https://wit.edu/sites/default/files/Seal_Black_No_Fill-Light_Bkgd.png">
            <a:extLst>
              <a:ext uri="{FF2B5EF4-FFF2-40B4-BE49-F238E27FC236}">
                <a16:creationId xmlns:a16="http://schemas.microsoft.com/office/drawing/2014/main" id="{232FA6ED-EAEF-FF04-ECE4-7F8A8E14675E}"/>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28780595" y="389505"/>
            <a:ext cx="3223405" cy="3223405"/>
          </a:xfrm>
          <a:prstGeom prst="rect">
            <a:avLst/>
          </a:prstGeom>
          <a:noFill/>
          <a:extLst>
            <a:ext uri="{909E8E84-426E-40DD-AFC4-6F175D3DCCD1}">
              <a14:hiddenFill xmlns:a14="http://schemas.microsoft.com/office/drawing/2010/main">
                <a:solidFill>
                  <a:srgbClr val="FFFFFF"/>
                </a:solidFill>
              </a14:hiddenFill>
            </a:ext>
          </a:extLst>
        </p:spPr>
      </p:pic>
      <p:sp>
        <p:nvSpPr>
          <p:cNvPr id="10" name="Text Box 10">
            <a:extLst>
              <a:ext uri="{FF2B5EF4-FFF2-40B4-BE49-F238E27FC236}">
                <a16:creationId xmlns:a16="http://schemas.microsoft.com/office/drawing/2014/main" id="{72341107-D9DE-022E-995E-944F3059F83C}"/>
              </a:ext>
            </a:extLst>
          </p:cNvPr>
          <p:cNvSpPr txBox="1">
            <a:spLocks noChangeArrowheads="1"/>
          </p:cNvSpPr>
          <p:nvPr/>
        </p:nvSpPr>
        <p:spPr bwMode="auto">
          <a:xfrm>
            <a:off x="8573141" y="4102279"/>
            <a:ext cx="7372350" cy="804608"/>
          </a:xfrm>
          <a:prstGeom prst="rect">
            <a:avLst/>
          </a:prstGeom>
          <a:noFill/>
          <a:ln w="9525">
            <a:noFill/>
            <a:miter lim="800000"/>
            <a:headEnd/>
            <a:tailEnd/>
          </a:ln>
          <a:effectLst/>
        </p:spPr>
        <p:txBody>
          <a:bodyPr lIns="65306" tIns="32653" rIns="65306" bIns="32653">
            <a:spAutoFit/>
          </a:bodyPr>
          <a:lstStyle/>
          <a:p>
            <a:pPr defTabSz="3134937">
              <a:spcBef>
                <a:spcPct val="50000"/>
              </a:spcBef>
            </a:pPr>
            <a:r>
              <a:rPr lang="en-US" sz="4800" b="1" dirty="0">
                <a:latin typeface="+mj-lt"/>
              </a:rPr>
              <a:t>Datasets</a:t>
            </a:r>
          </a:p>
        </p:txBody>
      </p:sp>
      <p:sp>
        <p:nvSpPr>
          <p:cNvPr id="28" name="Text Box 9">
            <a:extLst>
              <a:ext uri="{FF2B5EF4-FFF2-40B4-BE49-F238E27FC236}">
                <a16:creationId xmlns:a16="http://schemas.microsoft.com/office/drawing/2014/main" id="{7F6D341B-5E9F-5C12-8D71-828FFBD66F5C}"/>
              </a:ext>
            </a:extLst>
          </p:cNvPr>
          <p:cNvSpPr txBox="1">
            <a:spLocks noChangeArrowheads="1"/>
          </p:cNvSpPr>
          <p:nvPr/>
        </p:nvSpPr>
        <p:spPr bwMode="auto">
          <a:xfrm>
            <a:off x="8830552" y="5008302"/>
            <a:ext cx="7541601" cy="5262979"/>
          </a:xfrm>
          <a:prstGeom prst="rect">
            <a:avLst/>
          </a:prstGeom>
          <a:noFill/>
          <a:ln w="9525">
            <a:noFill/>
            <a:miter lim="800000"/>
            <a:headEnd/>
            <a:tailEnd/>
          </a:ln>
          <a:effectLst/>
        </p:spPr>
        <p:txBody>
          <a:bodyPr wrap="square">
            <a:spAutoFit/>
          </a:bodyPr>
          <a:lstStyle/>
          <a:p>
            <a:pPr marL="457200" indent="-457200" algn="l">
              <a:buFont typeface="Arial" panose="020B0604020202020204" pitchFamily="34" charset="0"/>
              <a:buChar char="•"/>
            </a:pPr>
            <a:r>
              <a:rPr lang="en-US" sz="2800" dirty="0"/>
              <a:t>The dataset comprises 1,500 data science job postings scraped from Glassdoor on September 18</a:t>
            </a:r>
            <a:r>
              <a:rPr lang="en-US" sz="2800" baseline="30000" dirty="0"/>
              <a:t>th</a:t>
            </a:r>
            <a:r>
              <a:rPr lang="en-US" sz="2800" dirty="0"/>
              <a:t>, 2023. </a:t>
            </a:r>
          </a:p>
          <a:p>
            <a:pPr marL="457200" indent="-457200" algn="l">
              <a:buFont typeface="Arial" panose="020B0604020202020204" pitchFamily="34" charset="0"/>
              <a:buChar char="•"/>
            </a:pPr>
            <a:r>
              <a:rPr lang="en-US" sz="2800" dirty="0"/>
              <a:t>Key fields include company rating, size, location, and salary estimate. </a:t>
            </a:r>
          </a:p>
          <a:p>
            <a:pPr marL="457200" indent="-457200" algn="l">
              <a:buFont typeface="Arial" panose="020B0604020202020204" pitchFamily="34" charset="0"/>
              <a:buChar char="•"/>
            </a:pPr>
            <a:r>
              <a:rPr lang="en-US" sz="2800" dirty="0"/>
              <a:t>To prepare the data for analysis, we cleaned and preprocessed the dataset by filtering out irrelevant or incomplete entries (such as postings without descriptions or duplicates) and transforming key variables.</a:t>
            </a:r>
          </a:p>
          <a:p>
            <a:pPr marL="457200" indent="-457200" algn="l">
              <a:buFont typeface="Arial" panose="020B0604020202020204" pitchFamily="34" charset="0"/>
              <a:buChar char="•"/>
            </a:pPr>
            <a:r>
              <a:rPr lang="en-US" sz="2800" dirty="0"/>
              <a:t>After pre-processing, the final sample used for analysis was reduced to 652 listings.</a:t>
            </a:r>
            <a:endParaRPr lang="en-US" sz="2800" dirty="0">
              <a:solidFill>
                <a:srgbClr val="FF0000"/>
              </a:solidFill>
            </a:endParaRPr>
          </a:p>
        </p:txBody>
      </p:sp>
      <p:sp>
        <p:nvSpPr>
          <p:cNvPr id="2" name="Text Box 10">
            <a:extLst>
              <a:ext uri="{FF2B5EF4-FFF2-40B4-BE49-F238E27FC236}">
                <a16:creationId xmlns:a16="http://schemas.microsoft.com/office/drawing/2014/main" id="{569EF759-BF0A-CCD1-7E50-D13319A47BF5}"/>
              </a:ext>
            </a:extLst>
          </p:cNvPr>
          <p:cNvSpPr txBox="1">
            <a:spLocks noChangeArrowheads="1"/>
          </p:cNvSpPr>
          <p:nvPr/>
        </p:nvSpPr>
        <p:spPr bwMode="auto">
          <a:xfrm>
            <a:off x="670296" y="10638292"/>
            <a:ext cx="7372350" cy="804608"/>
          </a:xfrm>
          <a:prstGeom prst="rect">
            <a:avLst/>
          </a:prstGeom>
          <a:noFill/>
          <a:ln w="9525">
            <a:noFill/>
            <a:miter lim="800000"/>
            <a:headEnd/>
            <a:tailEnd/>
          </a:ln>
          <a:effectLst/>
        </p:spPr>
        <p:txBody>
          <a:bodyPr lIns="65306" tIns="32653" rIns="65306" bIns="32653">
            <a:spAutoFit/>
          </a:bodyPr>
          <a:lstStyle/>
          <a:p>
            <a:pPr defTabSz="3134937">
              <a:spcBef>
                <a:spcPct val="50000"/>
              </a:spcBef>
            </a:pPr>
            <a:r>
              <a:rPr lang="en-US" sz="4800" b="1" dirty="0">
                <a:latin typeface="+mj-lt"/>
              </a:rPr>
              <a:t>Methodology</a:t>
            </a:r>
          </a:p>
        </p:txBody>
      </p:sp>
      <p:pic>
        <p:nvPicPr>
          <p:cNvPr id="7" name="Picture 6">
            <a:extLst>
              <a:ext uri="{FF2B5EF4-FFF2-40B4-BE49-F238E27FC236}">
                <a16:creationId xmlns:a16="http://schemas.microsoft.com/office/drawing/2014/main" id="{092DAFCE-B236-79BE-4BEA-A8FB0BE2608A}"/>
              </a:ext>
            </a:extLst>
          </p:cNvPr>
          <p:cNvPicPr>
            <a:picLocks noChangeAspect="1"/>
          </p:cNvPicPr>
          <p:nvPr/>
        </p:nvPicPr>
        <p:blipFill>
          <a:blip r:embed="rId5"/>
          <a:srcRect l="-92" t="1745" r="7809" b="7325"/>
          <a:stretch>
            <a:fillRect/>
          </a:stretch>
        </p:blipFill>
        <p:spPr>
          <a:xfrm>
            <a:off x="16713571" y="5357966"/>
            <a:ext cx="7780213" cy="4698999"/>
          </a:xfrm>
          <a:prstGeom prst="rect">
            <a:avLst/>
          </a:prstGeom>
        </p:spPr>
      </p:pic>
      <p:sp>
        <p:nvSpPr>
          <p:cNvPr id="9" name="Text Box 9">
            <a:extLst>
              <a:ext uri="{FF2B5EF4-FFF2-40B4-BE49-F238E27FC236}">
                <a16:creationId xmlns:a16="http://schemas.microsoft.com/office/drawing/2014/main" id="{82005DE2-95A9-8047-AE33-EF5FFD3027DF}"/>
              </a:ext>
            </a:extLst>
          </p:cNvPr>
          <p:cNvSpPr txBox="1">
            <a:spLocks noChangeArrowheads="1"/>
          </p:cNvSpPr>
          <p:nvPr/>
        </p:nvSpPr>
        <p:spPr bwMode="auto">
          <a:xfrm>
            <a:off x="724250" y="11503591"/>
            <a:ext cx="7417634" cy="10002738"/>
          </a:xfrm>
          <a:prstGeom prst="rect">
            <a:avLst/>
          </a:prstGeom>
          <a:noFill/>
          <a:ln w="9525">
            <a:noFill/>
            <a:miter lim="800000"/>
            <a:headEnd/>
            <a:tailEnd/>
          </a:ln>
          <a:effectLst/>
        </p:spPr>
        <p:txBody>
          <a:bodyPr wrap="square">
            <a:spAutoFit/>
          </a:bodyPr>
          <a:lstStyle/>
          <a:p>
            <a:pPr algn="l"/>
            <a:r>
              <a:rPr lang="en-US" sz="2800" b="1" dirty="0"/>
              <a:t>Data Preprocessing</a:t>
            </a:r>
          </a:p>
          <a:p>
            <a:pPr marL="457200" indent="-457200" algn="l">
              <a:buFont typeface="Arial" panose="020B0604020202020204" pitchFamily="34" charset="0"/>
              <a:buChar char="•"/>
            </a:pPr>
            <a:r>
              <a:rPr lang="en-US" sz="2800" dirty="0"/>
              <a:t>We used a dataset of Data Science job listings in 2023 scraped from multiple job boards on Kaggle.</a:t>
            </a:r>
          </a:p>
          <a:p>
            <a:pPr marL="457200" indent="-457200" algn="l">
              <a:buFont typeface="Arial" panose="020B0604020202020204" pitchFamily="34" charset="0"/>
              <a:buChar char="•"/>
            </a:pPr>
            <a:r>
              <a:rPr lang="en-US" sz="2800" dirty="0"/>
              <a:t>Following the preprocessing steps described in the dataset section, the final dataset consists of 652 unique job postings.”</a:t>
            </a:r>
          </a:p>
          <a:p>
            <a:pPr algn="l"/>
            <a:r>
              <a:rPr lang="en-US" sz="2800" b="1" dirty="0"/>
              <a:t>Analysis - Topic Modeling with </a:t>
            </a:r>
            <a:r>
              <a:rPr lang="en-US" sz="2800" b="1" dirty="0" err="1"/>
              <a:t>BERTopic</a:t>
            </a:r>
            <a:endParaRPr lang="en-US" sz="2800" b="1" dirty="0"/>
          </a:p>
          <a:p>
            <a:pPr marL="457200" indent="-457200" algn="l">
              <a:buFont typeface="Arial" panose="020B0604020202020204" pitchFamily="34" charset="0"/>
              <a:buChar char="•"/>
            </a:pPr>
            <a:r>
              <a:rPr lang="en-US" sz="2800" dirty="0"/>
              <a:t>Applied </a:t>
            </a:r>
            <a:r>
              <a:rPr lang="en-US" sz="2800" dirty="0" err="1"/>
              <a:t>BERTopic</a:t>
            </a:r>
            <a:r>
              <a:rPr lang="en-US" sz="2800" dirty="0"/>
              <a:t>, a transformer-based topic modeling method, to extract latent themes from job descriptions.</a:t>
            </a:r>
          </a:p>
          <a:p>
            <a:pPr marL="457200" indent="-457200" algn="l">
              <a:buFont typeface="Arial" panose="020B0604020202020204" pitchFamily="34" charset="0"/>
              <a:buChar char="•"/>
            </a:pPr>
            <a:r>
              <a:rPr lang="en-US" sz="2800" dirty="0" err="1"/>
              <a:t>BERTopic</a:t>
            </a:r>
            <a:r>
              <a:rPr lang="en-US" sz="2800" dirty="0"/>
              <a:t> uses embeddings and clustering to extract coherent topics from text.</a:t>
            </a:r>
          </a:p>
          <a:p>
            <a:pPr marL="457200" indent="-457200" algn="l">
              <a:buFont typeface="Arial" panose="020B0604020202020204" pitchFamily="34" charset="0"/>
              <a:buChar char="•"/>
            </a:pPr>
            <a:r>
              <a:rPr lang="en-US" sz="2800" dirty="0"/>
              <a:t>Transformer-based embeddings capture semantic relationships, may producing more meaningful topics than traditional methods.</a:t>
            </a:r>
          </a:p>
          <a:p>
            <a:pPr algn="l"/>
            <a:r>
              <a:rPr lang="en-US" sz="2800" b="1" dirty="0"/>
              <a:t>Implementation</a:t>
            </a:r>
          </a:p>
          <a:p>
            <a:pPr marL="457200" indent="-457200" algn="l">
              <a:buFont typeface="Arial" panose="020B0604020202020204" pitchFamily="34" charset="0"/>
              <a:buChar char="•"/>
            </a:pPr>
            <a:r>
              <a:rPr lang="en-US" sz="2800" dirty="0"/>
              <a:t>Data processing and analysis was conducted in Python using Pandas for cleaning, </a:t>
            </a:r>
            <a:r>
              <a:rPr lang="en-US" sz="2800" dirty="0" err="1"/>
              <a:t>BERTopic</a:t>
            </a:r>
            <a:r>
              <a:rPr lang="en-US" sz="2800" dirty="0"/>
              <a:t> for topic modeling and Matplotlib for visualization. </a:t>
            </a:r>
          </a:p>
        </p:txBody>
      </p:sp>
      <p:sp>
        <p:nvSpPr>
          <p:cNvPr id="8" name="TextBox 7">
            <a:extLst>
              <a:ext uri="{FF2B5EF4-FFF2-40B4-BE49-F238E27FC236}">
                <a16:creationId xmlns:a16="http://schemas.microsoft.com/office/drawing/2014/main" id="{7625310E-65D0-2243-C518-A966A161A3AD}"/>
              </a:ext>
            </a:extLst>
          </p:cNvPr>
          <p:cNvSpPr txBox="1"/>
          <p:nvPr/>
        </p:nvSpPr>
        <p:spPr>
          <a:xfrm>
            <a:off x="16905526" y="4872576"/>
            <a:ext cx="7562140" cy="16312158"/>
          </a:xfrm>
          <a:prstGeom prst="rect">
            <a:avLst/>
          </a:prstGeom>
          <a:noFill/>
        </p:spPr>
        <p:txBody>
          <a:bodyPr wrap="square">
            <a:spAutoFit/>
          </a:bodyPr>
          <a:lstStyle/>
          <a:p>
            <a:pPr algn="l" defTabSz="437644" eaLnBrk="0" hangingPunct="0">
              <a:spcAft>
                <a:spcPts val="1200"/>
              </a:spcAft>
            </a:pPr>
            <a:r>
              <a:rPr lang="en-US" sz="2800" dirty="0"/>
              <a:t>The results reveal five key topics: </a:t>
            </a:r>
          </a:p>
          <a:p>
            <a:pPr algn="l" defTabSz="437644" eaLnBrk="0" hangingPunct="0">
              <a:spcAft>
                <a:spcPts val="1200"/>
              </a:spcAft>
            </a:pPr>
            <a:endParaRPr lang="en-US" sz="2800" dirty="0"/>
          </a:p>
          <a:p>
            <a:pPr algn="l" defTabSz="437644" eaLnBrk="0" hangingPunct="0">
              <a:spcAft>
                <a:spcPts val="1200"/>
              </a:spcAft>
            </a:pPr>
            <a:endParaRPr lang="en-US" sz="2800" dirty="0"/>
          </a:p>
          <a:p>
            <a:pPr algn="l" defTabSz="437644" eaLnBrk="0" hangingPunct="0">
              <a:spcAft>
                <a:spcPts val="1200"/>
              </a:spcAft>
            </a:pPr>
            <a:endParaRPr lang="en-US" sz="2800" dirty="0"/>
          </a:p>
          <a:p>
            <a:pPr algn="l" defTabSz="437644" eaLnBrk="0" hangingPunct="0">
              <a:spcAft>
                <a:spcPts val="1200"/>
              </a:spcAft>
            </a:pPr>
            <a:endParaRPr lang="en-US" sz="2800" dirty="0"/>
          </a:p>
          <a:p>
            <a:pPr algn="l" defTabSz="437644" eaLnBrk="0" hangingPunct="0">
              <a:spcAft>
                <a:spcPts val="1200"/>
              </a:spcAft>
            </a:pPr>
            <a:endParaRPr lang="en-US" sz="2800" dirty="0"/>
          </a:p>
          <a:p>
            <a:pPr algn="l" defTabSz="437644" eaLnBrk="0" hangingPunct="0">
              <a:spcAft>
                <a:spcPts val="1200"/>
              </a:spcAft>
            </a:pPr>
            <a:endParaRPr lang="en-US" sz="2800" dirty="0"/>
          </a:p>
          <a:p>
            <a:pPr algn="l" defTabSz="437644" eaLnBrk="0" hangingPunct="0">
              <a:spcAft>
                <a:spcPts val="1200"/>
              </a:spcAft>
            </a:pPr>
            <a:endParaRPr lang="en-US" sz="2800" dirty="0"/>
          </a:p>
          <a:p>
            <a:pPr algn="l" defTabSz="437644" eaLnBrk="0" hangingPunct="0">
              <a:spcAft>
                <a:spcPts val="1200"/>
              </a:spcAft>
            </a:pPr>
            <a:endParaRPr lang="en-US" sz="2800" dirty="0"/>
          </a:p>
          <a:p>
            <a:pPr marL="457200" indent="-457200" algn="l" defTabSz="437644" eaLnBrk="0" hangingPunct="0">
              <a:spcAft>
                <a:spcPts val="1200"/>
              </a:spcAft>
              <a:buFont typeface="Arial" panose="020B0604020202020204" pitchFamily="34" charset="0"/>
              <a:buChar char="•"/>
            </a:pPr>
            <a:r>
              <a:rPr lang="en-US" sz="2800" b="1" dirty="0"/>
              <a:t>Topic [0] </a:t>
            </a:r>
            <a:r>
              <a:rPr lang="en-US" sz="2800" dirty="0"/>
              <a:t>core machine learning and analytical skills: highlighting the technical expertise central to the role; </a:t>
            </a:r>
          </a:p>
          <a:p>
            <a:pPr marL="457200" indent="-457200" algn="l" defTabSz="437644" eaLnBrk="0" hangingPunct="0">
              <a:spcAft>
                <a:spcPts val="1200"/>
              </a:spcAft>
              <a:buFont typeface="Arial" panose="020B0604020202020204" pitchFamily="34" charset="0"/>
              <a:buChar char="•"/>
            </a:pPr>
            <a:r>
              <a:rPr lang="en-US" sz="2800" b="1" dirty="0"/>
              <a:t>Topic [1] </a:t>
            </a:r>
            <a:r>
              <a:rPr lang="en-US" sz="2800" dirty="0"/>
              <a:t>role narrative from the employer perspective: representing the employer’s view of the role as contributing to digital transformation and advancing company growth and community-focused objectives;</a:t>
            </a:r>
          </a:p>
          <a:p>
            <a:pPr marL="457200" indent="-457200" algn="l" defTabSz="437644" eaLnBrk="0" hangingPunct="0">
              <a:spcAft>
                <a:spcPts val="1200"/>
              </a:spcAft>
              <a:buFont typeface="Arial" panose="020B0604020202020204" pitchFamily="34" charset="0"/>
              <a:buChar char="•"/>
            </a:pPr>
            <a:r>
              <a:rPr lang="en-US" sz="2800" b="1" dirty="0"/>
              <a:t>Topic [2]</a:t>
            </a:r>
            <a:r>
              <a:rPr lang="en-US" sz="2800" dirty="0"/>
              <a:t> healthcare and clinically relevant applications: a cluster of postings where data-science methods are applied in medical or clinical contexts. The presence of these terms may indicate a growing trend/demand for healthcare-focused data-science roles. (e.g., data scientists who can work with patient-level datasets, clinical workflows, and health-related analytics </a:t>
            </a:r>
          </a:p>
          <a:p>
            <a:pPr marL="457200" indent="-457200" algn="l" defTabSz="437644" eaLnBrk="0" hangingPunct="0">
              <a:spcAft>
                <a:spcPts val="1200"/>
              </a:spcAft>
              <a:buFont typeface="Arial" panose="020B0604020202020204" pitchFamily="34" charset="0"/>
              <a:buChar char="•"/>
            </a:pPr>
            <a:r>
              <a:rPr lang="en-US" sz="2800" b="1" dirty="0"/>
              <a:t>Topic [3]</a:t>
            </a:r>
            <a:r>
              <a:rPr lang="en-US" sz="2800" dirty="0"/>
              <a:t> compensation and benefits: reflects standardized language in job posting to communicate  salary ranges and employment packages; </a:t>
            </a:r>
          </a:p>
          <a:p>
            <a:pPr marL="457200" indent="-457200" algn="l" defTabSz="437644" eaLnBrk="0" hangingPunct="0">
              <a:spcAft>
                <a:spcPts val="1200"/>
              </a:spcAft>
              <a:buFont typeface="Arial" panose="020B0604020202020204" pitchFamily="34" charset="0"/>
              <a:buChar char="•"/>
            </a:pPr>
            <a:r>
              <a:rPr lang="en-US" sz="2800" b="1" dirty="0"/>
              <a:t>Topic [4]</a:t>
            </a:r>
            <a:r>
              <a:rPr lang="en-US" sz="2800" dirty="0"/>
              <a:t> employment condition and career expectations: This topic centers on formal employment expectation to the posted role.</a:t>
            </a:r>
          </a:p>
        </p:txBody>
      </p:sp>
      <p:sp>
        <p:nvSpPr>
          <p:cNvPr id="13" name="Text Box 10">
            <a:extLst>
              <a:ext uri="{FF2B5EF4-FFF2-40B4-BE49-F238E27FC236}">
                <a16:creationId xmlns:a16="http://schemas.microsoft.com/office/drawing/2014/main" id="{E5BF717C-BE2D-41BB-622B-6ABD402BB82E}"/>
              </a:ext>
            </a:extLst>
          </p:cNvPr>
          <p:cNvSpPr txBox="1">
            <a:spLocks noChangeArrowheads="1"/>
          </p:cNvSpPr>
          <p:nvPr/>
        </p:nvSpPr>
        <p:spPr bwMode="auto">
          <a:xfrm>
            <a:off x="8682751" y="10591424"/>
            <a:ext cx="7372350" cy="804608"/>
          </a:xfrm>
          <a:prstGeom prst="rect">
            <a:avLst/>
          </a:prstGeom>
          <a:noFill/>
          <a:ln w="9525">
            <a:noFill/>
            <a:miter lim="800000"/>
            <a:headEnd/>
            <a:tailEnd/>
          </a:ln>
          <a:effectLst/>
        </p:spPr>
        <p:txBody>
          <a:bodyPr lIns="65306" tIns="32653" rIns="65306" bIns="32653">
            <a:spAutoFit/>
          </a:bodyPr>
          <a:lstStyle/>
          <a:p>
            <a:pPr defTabSz="3134937">
              <a:spcBef>
                <a:spcPct val="50000"/>
              </a:spcBef>
            </a:pPr>
            <a:r>
              <a:rPr lang="en-US" sz="4800" b="1" dirty="0">
                <a:latin typeface="+mj-lt"/>
              </a:rPr>
              <a:t>Results</a:t>
            </a:r>
          </a:p>
        </p:txBody>
      </p:sp>
      <p:graphicFrame>
        <p:nvGraphicFramePr>
          <p:cNvPr id="4" name="Table 3">
            <a:extLst>
              <a:ext uri="{FF2B5EF4-FFF2-40B4-BE49-F238E27FC236}">
                <a16:creationId xmlns:a16="http://schemas.microsoft.com/office/drawing/2014/main" id="{F5EF615E-9E15-3771-0AA8-664ABAE10135}"/>
              </a:ext>
            </a:extLst>
          </p:cNvPr>
          <p:cNvGraphicFramePr>
            <a:graphicFrameLocks noGrp="1"/>
          </p:cNvGraphicFramePr>
          <p:nvPr>
            <p:extLst>
              <p:ext uri="{D42A27DB-BD31-4B8C-83A1-F6EECF244321}">
                <p14:modId xmlns:p14="http://schemas.microsoft.com/office/powerpoint/2010/main" val="638301867"/>
              </p:ext>
            </p:extLst>
          </p:nvPr>
        </p:nvGraphicFramePr>
        <p:xfrm>
          <a:off x="8682751" y="12407654"/>
          <a:ext cx="7541602" cy="8949690"/>
        </p:xfrm>
        <a:graphic>
          <a:graphicData uri="http://schemas.openxmlformats.org/drawingml/2006/table">
            <a:tbl>
              <a:tblPr firstRow="1" bandRow="1">
                <a:tableStyleId>{9D7B26C5-4107-4FEC-AEDC-1716B250A1EF}</a:tableStyleId>
              </a:tblPr>
              <a:tblGrid>
                <a:gridCol w="1945479">
                  <a:extLst>
                    <a:ext uri="{9D8B030D-6E8A-4147-A177-3AD203B41FA5}">
                      <a16:colId xmlns:a16="http://schemas.microsoft.com/office/drawing/2014/main" val="1734551777"/>
                    </a:ext>
                  </a:extLst>
                </a:gridCol>
                <a:gridCol w="3781425">
                  <a:extLst>
                    <a:ext uri="{9D8B030D-6E8A-4147-A177-3AD203B41FA5}">
                      <a16:colId xmlns:a16="http://schemas.microsoft.com/office/drawing/2014/main" val="1078368576"/>
                    </a:ext>
                  </a:extLst>
                </a:gridCol>
                <a:gridCol w="832719">
                  <a:extLst>
                    <a:ext uri="{9D8B030D-6E8A-4147-A177-3AD203B41FA5}">
                      <a16:colId xmlns:a16="http://schemas.microsoft.com/office/drawing/2014/main" val="3629857135"/>
                    </a:ext>
                  </a:extLst>
                </a:gridCol>
                <a:gridCol w="981979">
                  <a:extLst>
                    <a:ext uri="{9D8B030D-6E8A-4147-A177-3AD203B41FA5}">
                      <a16:colId xmlns:a16="http://schemas.microsoft.com/office/drawing/2014/main" val="3306696343"/>
                    </a:ext>
                  </a:extLst>
                </a:gridCol>
              </a:tblGrid>
              <a:tr h="182880">
                <a:tc>
                  <a:txBody>
                    <a:bodyPr/>
                    <a:lstStyle/>
                    <a:p>
                      <a:pPr algn="ctr" fontAlgn="ctr">
                        <a:buNone/>
                      </a:pPr>
                      <a:r>
                        <a:rPr lang="en-US" sz="2000" u="none" strike="noStrike" dirty="0">
                          <a:effectLst/>
                        </a:rPr>
                        <a:t>Characteristics</a:t>
                      </a:r>
                      <a:endParaRPr lang="en-US" sz="2000" b="0" i="0" u="none" strike="noStrike" dirty="0">
                        <a:solidFill>
                          <a:srgbClr val="000000"/>
                        </a:solidFill>
                        <a:effectLst/>
                        <a:latin typeface="Calibri" panose="020F0502020204030204" pitchFamily="34" charset="0"/>
                      </a:endParaRPr>
                    </a:p>
                  </a:txBody>
                  <a:tcPr marL="3810" marR="3810" marT="3810" marB="0" anchor="ctr"/>
                </a:tc>
                <a:tc>
                  <a:txBody>
                    <a:bodyPr/>
                    <a:lstStyle/>
                    <a:p>
                      <a:pPr algn="l" fontAlgn="b">
                        <a:buNone/>
                      </a:pPr>
                      <a:r>
                        <a:rPr lang="en-US" sz="2000" u="none" strike="noStrike" dirty="0">
                          <a:effectLst/>
                        </a:rPr>
                        <a:t>category</a:t>
                      </a:r>
                      <a:endParaRPr lang="en-US" sz="2000" b="0" i="0" u="none" strike="noStrike" dirty="0">
                        <a:solidFill>
                          <a:srgbClr val="000000"/>
                        </a:solidFill>
                        <a:effectLst/>
                        <a:latin typeface="Calibri" panose="020F0502020204030204" pitchFamily="34" charset="0"/>
                      </a:endParaRPr>
                    </a:p>
                  </a:txBody>
                  <a:tcPr marL="3810" marR="3810" marT="3810" marB="0" anchor="b"/>
                </a:tc>
                <a:tc>
                  <a:txBody>
                    <a:bodyPr/>
                    <a:lstStyle/>
                    <a:p>
                      <a:pPr algn="ctr" fontAlgn="ctr">
                        <a:buNone/>
                      </a:pPr>
                      <a:r>
                        <a:rPr lang="en-US" sz="2000" u="none" strike="noStrike">
                          <a:effectLst/>
                        </a:rPr>
                        <a:t>N</a:t>
                      </a:r>
                      <a:endParaRPr lang="en-US" sz="2000" b="0" i="0" u="none" strike="noStrike">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a:effectLst/>
                        </a:rPr>
                        <a:t>%</a:t>
                      </a:r>
                      <a:endParaRPr lang="en-US" sz="2000" b="0" i="0" u="none" strike="noStrike">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845555901"/>
                  </a:ext>
                </a:extLst>
              </a:tr>
              <a:tr h="182880">
                <a:tc rowSpan="6">
                  <a:txBody>
                    <a:bodyPr/>
                    <a:lstStyle/>
                    <a:p>
                      <a:pPr algn="ctr" fontAlgn="ctr">
                        <a:buNone/>
                      </a:pPr>
                      <a:r>
                        <a:rPr lang="en-US" sz="2000" u="none" strike="noStrike" dirty="0">
                          <a:effectLst/>
                        </a:rPr>
                        <a:t>Company rating</a:t>
                      </a:r>
                      <a:endParaRPr lang="en-US" sz="2000" b="0" i="0" u="none" strike="noStrike" dirty="0">
                        <a:solidFill>
                          <a:srgbClr val="000000"/>
                        </a:solidFill>
                        <a:effectLst/>
                        <a:latin typeface="Calibri" panose="020F0502020204030204" pitchFamily="34" charset="0"/>
                      </a:endParaRPr>
                    </a:p>
                  </a:txBody>
                  <a:tcPr marL="3810" marR="3810" marT="3810" marB="0" anchor="ctr">
                    <a:lnB w="12700" cap="flat" cmpd="sng" algn="ctr">
                      <a:solidFill>
                        <a:schemeClr val="tx1"/>
                      </a:solidFill>
                      <a:prstDash val="solid"/>
                      <a:round/>
                      <a:headEnd type="none" w="med" len="med"/>
                      <a:tailEnd type="none" w="med" len="med"/>
                    </a:lnB>
                  </a:tcPr>
                </a:tc>
                <a:tc>
                  <a:txBody>
                    <a:bodyPr/>
                    <a:lstStyle/>
                    <a:p>
                      <a:pPr algn="l" fontAlgn="b">
                        <a:buNone/>
                      </a:pPr>
                      <a:r>
                        <a:rPr lang="en-US" sz="2000" u="none" strike="noStrike">
                          <a:effectLst/>
                        </a:rPr>
                        <a:t>1</a:t>
                      </a:r>
                      <a:endParaRPr lang="en-US" sz="2000" b="0" i="0" u="none" strike="noStrike">
                        <a:solidFill>
                          <a:srgbClr val="000000"/>
                        </a:solidFill>
                        <a:effectLst/>
                        <a:latin typeface="Calibri" panose="020F0502020204030204" pitchFamily="34" charset="0"/>
                      </a:endParaRPr>
                    </a:p>
                  </a:txBody>
                  <a:tcPr marL="3810" marR="3810" marT="3810" marB="0" anchor="b"/>
                </a:tc>
                <a:tc>
                  <a:txBody>
                    <a:bodyPr/>
                    <a:lstStyle/>
                    <a:p>
                      <a:pPr algn="ctr" fontAlgn="ctr">
                        <a:buNone/>
                      </a:pPr>
                      <a:r>
                        <a:rPr lang="en-US" sz="2000" u="none" strike="noStrike">
                          <a:effectLst/>
                        </a:rPr>
                        <a:t>3</a:t>
                      </a:r>
                      <a:endParaRPr lang="en-US" sz="2000" b="0" i="0" u="none" strike="noStrike">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a:effectLst/>
                        </a:rPr>
                        <a:t>0.46%</a:t>
                      </a:r>
                      <a:endParaRPr lang="en-US" sz="2000" b="0" i="0" u="none" strike="noStrike">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361778293"/>
                  </a:ext>
                </a:extLst>
              </a:tr>
              <a:tr h="182880">
                <a:tc vMerge="1">
                  <a:txBody>
                    <a:bodyPr/>
                    <a:lstStyle/>
                    <a:p>
                      <a:endParaRPr lang="en-US"/>
                    </a:p>
                  </a:txBody>
                  <a:tcPr/>
                </a:tc>
                <a:tc>
                  <a:txBody>
                    <a:bodyPr/>
                    <a:lstStyle/>
                    <a:p>
                      <a:pPr algn="l" fontAlgn="b">
                        <a:buNone/>
                      </a:pPr>
                      <a:r>
                        <a:rPr lang="en-US" sz="2000" u="none" strike="noStrike">
                          <a:effectLst/>
                        </a:rPr>
                        <a:t>2</a:t>
                      </a:r>
                      <a:endParaRPr lang="en-US" sz="2000" b="0" i="0" u="none" strike="noStrike">
                        <a:solidFill>
                          <a:srgbClr val="000000"/>
                        </a:solidFill>
                        <a:effectLst/>
                        <a:latin typeface="Calibri" panose="020F0502020204030204" pitchFamily="34" charset="0"/>
                      </a:endParaRPr>
                    </a:p>
                  </a:txBody>
                  <a:tcPr marL="3810" marR="3810" marT="3810" marB="0" anchor="b"/>
                </a:tc>
                <a:tc>
                  <a:txBody>
                    <a:bodyPr/>
                    <a:lstStyle/>
                    <a:p>
                      <a:pPr algn="ctr" fontAlgn="ctr">
                        <a:buNone/>
                      </a:pPr>
                      <a:r>
                        <a:rPr lang="en-US" sz="2000" u="none" strike="noStrike">
                          <a:effectLst/>
                        </a:rPr>
                        <a:t>27</a:t>
                      </a:r>
                      <a:endParaRPr lang="en-US" sz="2000" b="0" i="0" u="none" strike="noStrike">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a:effectLst/>
                        </a:rPr>
                        <a:t>4.15%</a:t>
                      </a:r>
                      <a:endParaRPr lang="en-US" sz="2000" b="0" i="0" u="none" strike="noStrike">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3262013612"/>
                  </a:ext>
                </a:extLst>
              </a:tr>
              <a:tr h="182880">
                <a:tc vMerge="1">
                  <a:txBody>
                    <a:bodyPr/>
                    <a:lstStyle/>
                    <a:p>
                      <a:endParaRPr lang="en-US"/>
                    </a:p>
                  </a:txBody>
                  <a:tcPr/>
                </a:tc>
                <a:tc>
                  <a:txBody>
                    <a:bodyPr/>
                    <a:lstStyle/>
                    <a:p>
                      <a:pPr algn="l" fontAlgn="b">
                        <a:buNone/>
                      </a:pPr>
                      <a:r>
                        <a:rPr lang="en-US" sz="2000" u="none" strike="noStrike">
                          <a:effectLst/>
                        </a:rPr>
                        <a:t>3</a:t>
                      </a:r>
                      <a:endParaRPr lang="en-US" sz="2000" b="0" i="0" u="none" strike="noStrike">
                        <a:solidFill>
                          <a:srgbClr val="000000"/>
                        </a:solidFill>
                        <a:effectLst/>
                        <a:latin typeface="Calibri" panose="020F0502020204030204" pitchFamily="34" charset="0"/>
                      </a:endParaRPr>
                    </a:p>
                  </a:txBody>
                  <a:tcPr marL="3810" marR="3810" marT="3810" marB="0" anchor="b"/>
                </a:tc>
                <a:tc>
                  <a:txBody>
                    <a:bodyPr/>
                    <a:lstStyle/>
                    <a:p>
                      <a:pPr algn="ctr" fontAlgn="ctr">
                        <a:buNone/>
                      </a:pPr>
                      <a:r>
                        <a:rPr lang="en-US" sz="2000" u="none" strike="noStrike">
                          <a:effectLst/>
                        </a:rPr>
                        <a:t>302</a:t>
                      </a:r>
                      <a:endParaRPr lang="en-US" sz="2000" b="0" i="0" u="none" strike="noStrike">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a:effectLst/>
                        </a:rPr>
                        <a:t>46.39%</a:t>
                      </a:r>
                      <a:endParaRPr lang="en-US" sz="2000" b="0" i="0" u="none" strike="noStrike">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735721149"/>
                  </a:ext>
                </a:extLst>
              </a:tr>
              <a:tr h="182880">
                <a:tc vMerge="1">
                  <a:txBody>
                    <a:bodyPr/>
                    <a:lstStyle/>
                    <a:p>
                      <a:endParaRPr lang="en-US"/>
                    </a:p>
                  </a:txBody>
                  <a:tcPr/>
                </a:tc>
                <a:tc>
                  <a:txBody>
                    <a:bodyPr/>
                    <a:lstStyle/>
                    <a:p>
                      <a:pPr algn="l" fontAlgn="b">
                        <a:buNone/>
                      </a:pPr>
                      <a:r>
                        <a:rPr lang="en-US" sz="2000" u="none" strike="noStrike">
                          <a:effectLst/>
                        </a:rPr>
                        <a:t>4</a:t>
                      </a:r>
                      <a:endParaRPr lang="en-US" sz="2000" b="0" i="0" u="none" strike="noStrike">
                        <a:solidFill>
                          <a:srgbClr val="000000"/>
                        </a:solidFill>
                        <a:effectLst/>
                        <a:latin typeface="Calibri" panose="020F0502020204030204" pitchFamily="34" charset="0"/>
                      </a:endParaRPr>
                    </a:p>
                  </a:txBody>
                  <a:tcPr marL="3810" marR="3810" marT="3810" marB="0" anchor="b"/>
                </a:tc>
                <a:tc>
                  <a:txBody>
                    <a:bodyPr/>
                    <a:lstStyle/>
                    <a:p>
                      <a:pPr algn="ctr" fontAlgn="ctr">
                        <a:buNone/>
                      </a:pPr>
                      <a:r>
                        <a:rPr lang="en-US" sz="2000" u="none" strike="noStrike">
                          <a:effectLst/>
                        </a:rPr>
                        <a:t>252</a:t>
                      </a:r>
                      <a:endParaRPr lang="en-US" sz="2000" b="0" i="0" u="none" strike="noStrike">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a:effectLst/>
                        </a:rPr>
                        <a:t>38.71%</a:t>
                      </a:r>
                      <a:endParaRPr lang="en-US" sz="2000" b="0" i="0" u="none" strike="noStrike">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2926175277"/>
                  </a:ext>
                </a:extLst>
              </a:tr>
              <a:tr h="182880">
                <a:tc vMerge="1">
                  <a:txBody>
                    <a:bodyPr/>
                    <a:lstStyle/>
                    <a:p>
                      <a:endParaRPr lang="en-US"/>
                    </a:p>
                  </a:txBody>
                  <a:tcPr/>
                </a:tc>
                <a:tc>
                  <a:txBody>
                    <a:bodyPr/>
                    <a:lstStyle/>
                    <a:p>
                      <a:pPr algn="l" fontAlgn="b">
                        <a:buNone/>
                      </a:pPr>
                      <a:r>
                        <a:rPr lang="en-US" sz="2000" u="none" strike="noStrike" dirty="0">
                          <a:effectLst/>
                        </a:rPr>
                        <a:t>5</a:t>
                      </a:r>
                      <a:endParaRPr lang="en-US" sz="2000" b="0" i="0" u="none" strike="noStrike" dirty="0">
                        <a:solidFill>
                          <a:srgbClr val="000000"/>
                        </a:solidFill>
                        <a:effectLst/>
                        <a:latin typeface="Calibri" panose="020F0502020204030204" pitchFamily="34" charset="0"/>
                      </a:endParaRPr>
                    </a:p>
                  </a:txBody>
                  <a:tcPr marL="3810" marR="3810" marT="3810" marB="0" anchor="b"/>
                </a:tc>
                <a:tc>
                  <a:txBody>
                    <a:bodyPr/>
                    <a:lstStyle/>
                    <a:p>
                      <a:pPr algn="ctr" fontAlgn="ctr">
                        <a:buNone/>
                      </a:pPr>
                      <a:r>
                        <a:rPr lang="en-US" sz="2000" u="none" strike="noStrike" dirty="0">
                          <a:effectLst/>
                        </a:rPr>
                        <a:t>22</a:t>
                      </a:r>
                      <a:endParaRPr lang="en-US" sz="2000" b="0" i="0" u="none" strike="noStrike" dirty="0">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dirty="0">
                          <a:effectLst/>
                        </a:rPr>
                        <a:t>3.38%</a:t>
                      </a:r>
                      <a:endParaRPr lang="en-US" sz="2000" b="0" i="0" u="none" strike="noStrike" dirty="0">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4064635845"/>
                  </a:ext>
                </a:extLst>
              </a:tr>
              <a:tr h="182880">
                <a:tc vMerge="1">
                  <a:txBody>
                    <a:bodyPr/>
                    <a:lstStyle/>
                    <a:p>
                      <a:endParaRPr lang="en-US"/>
                    </a:p>
                  </a:txBody>
                  <a:tcPr/>
                </a:tc>
                <a:tc>
                  <a:txBody>
                    <a:bodyPr/>
                    <a:lstStyle/>
                    <a:p>
                      <a:pPr algn="l" fontAlgn="b">
                        <a:buNone/>
                      </a:pPr>
                      <a:r>
                        <a:rPr lang="en-US" sz="2000" u="none" strike="noStrike">
                          <a:effectLst/>
                        </a:rPr>
                        <a:t>Unknown</a:t>
                      </a:r>
                      <a:endParaRPr lang="en-US" sz="2000" b="0" i="0" u="none" strike="noStrike">
                        <a:solidFill>
                          <a:srgbClr val="000000"/>
                        </a:solidFill>
                        <a:effectLst/>
                        <a:latin typeface="Calibri" panose="020F0502020204030204" pitchFamily="34" charset="0"/>
                      </a:endParaRPr>
                    </a:p>
                  </a:txBody>
                  <a:tcPr marL="3810" marR="3810" marT="3810" marB="0" anchor="b"/>
                </a:tc>
                <a:tc>
                  <a:txBody>
                    <a:bodyPr/>
                    <a:lstStyle/>
                    <a:p>
                      <a:pPr algn="ctr" fontAlgn="ctr">
                        <a:buNone/>
                      </a:pPr>
                      <a:r>
                        <a:rPr lang="en-US" sz="2000" u="none" strike="noStrike">
                          <a:effectLst/>
                        </a:rPr>
                        <a:t>45</a:t>
                      </a:r>
                      <a:endParaRPr lang="en-US" sz="2000" b="0" i="0" u="none" strike="noStrike">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a:effectLst/>
                        </a:rPr>
                        <a:t>6.91%</a:t>
                      </a:r>
                      <a:endParaRPr lang="en-US" sz="2000" b="0" i="0" u="none" strike="noStrike">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2319716942"/>
                  </a:ext>
                </a:extLst>
              </a:tr>
              <a:tr h="182880">
                <a:tc rowSpan="4">
                  <a:txBody>
                    <a:bodyPr/>
                    <a:lstStyle/>
                    <a:p>
                      <a:pPr algn="ctr" fontAlgn="ctr">
                        <a:buNone/>
                      </a:pPr>
                      <a:r>
                        <a:rPr lang="en-US" sz="2000" u="none" strike="noStrike" dirty="0">
                          <a:effectLst/>
                        </a:rPr>
                        <a:t>company size</a:t>
                      </a:r>
                      <a:endParaRPr lang="en-US" sz="2000" b="0" i="0" u="none" strike="noStrike" dirty="0">
                        <a:solidFill>
                          <a:srgbClr val="000000"/>
                        </a:solidFill>
                        <a:effectLst/>
                        <a:latin typeface="Calibri" panose="020F0502020204030204" pitchFamily="34" charset="0"/>
                      </a:endParaRPr>
                    </a:p>
                  </a:txBody>
                  <a:tcPr marL="3810" marR="3810" marT="381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000" u="none" strike="noStrike">
                          <a:effectLst/>
                        </a:rPr>
                        <a:t>1000+</a:t>
                      </a:r>
                      <a:endParaRPr lang="en-US" sz="2000" b="0" i="0" u="none" strike="noStrike">
                        <a:solidFill>
                          <a:srgbClr val="000000"/>
                        </a:solidFill>
                        <a:effectLst/>
                        <a:latin typeface="Calibri" panose="020F0502020204030204" pitchFamily="34" charset="0"/>
                      </a:endParaRPr>
                    </a:p>
                  </a:txBody>
                  <a:tcPr marL="3810" marR="3810" marT="3810" marB="0" anchor="b">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buNone/>
                      </a:pPr>
                      <a:r>
                        <a:rPr lang="en-US" sz="2000" u="none" strike="noStrike">
                          <a:effectLst/>
                        </a:rPr>
                        <a:t>382</a:t>
                      </a:r>
                      <a:endParaRPr lang="en-US" sz="2000" b="0" i="0" u="none" strike="noStrike">
                        <a:solidFill>
                          <a:srgbClr val="000000"/>
                        </a:solidFill>
                        <a:effectLst/>
                        <a:latin typeface="Calibri" panose="020F0502020204030204" pitchFamily="34" charset="0"/>
                      </a:endParaRPr>
                    </a:p>
                  </a:txBody>
                  <a:tcPr marL="3810" marR="3810" marT="3810" marB="0" anchor="ctr">
                    <a:lnB w="12700" cap="flat" cmpd="sng" algn="ctr">
                      <a:solidFill>
                        <a:schemeClr val="tx1"/>
                      </a:solidFill>
                      <a:prstDash val="solid"/>
                      <a:round/>
                      <a:headEnd type="none" w="med" len="med"/>
                      <a:tailEnd type="none" w="med" len="med"/>
                    </a:lnB>
                  </a:tcPr>
                </a:tc>
                <a:tc>
                  <a:txBody>
                    <a:bodyPr/>
                    <a:lstStyle/>
                    <a:p>
                      <a:pPr algn="ctr" fontAlgn="ctr">
                        <a:buNone/>
                      </a:pPr>
                      <a:r>
                        <a:rPr lang="en-US" sz="2000" u="none" strike="noStrike">
                          <a:effectLst/>
                        </a:rPr>
                        <a:t>58.68%</a:t>
                      </a:r>
                      <a:endParaRPr lang="en-US" sz="2000" b="0" i="0" u="none" strike="noStrike">
                        <a:solidFill>
                          <a:srgbClr val="000000"/>
                        </a:solidFill>
                        <a:effectLst/>
                        <a:latin typeface="Calibri" panose="020F0502020204030204" pitchFamily="34" charset="0"/>
                      </a:endParaRPr>
                    </a:p>
                  </a:txBody>
                  <a:tcPr marL="3810" marR="3810" marT="3810"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17902505"/>
                  </a:ext>
                </a:extLst>
              </a:tr>
              <a:tr h="182880">
                <a:tc vMerge="1">
                  <a:txBody>
                    <a:bodyPr/>
                    <a:lstStyle/>
                    <a:p>
                      <a:endParaRPr lang="en-US"/>
                    </a:p>
                  </a:txBody>
                  <a:tcPr/>
                </a:tc>
                <a:tc>
                  <a:txBody>
                    <a:bodyPr/>
                    <a:lstStyle/>
                    <a:p>
                      <a:pPr algn="l" fontAlgn="b">
                        <a:buNone/>
                      </a:pPr>
                      <a:r>
                        <a:rPr lang="en-US" sz="2000" u="none" strike="noStrike" dirty="0">
                          <a:effectLst/>
                        </a:rPr>
                        <a:t>1-200</a:t>
                      </a:r>
                      <a:endParaRPr lang="en-US" sz="2000" b="0" i="0" u="none" strike="noStrike" dirty="0">
                        <a:solidFill>
                          <a:srgbClr val="000000"/>
                        </a:solidFill>
                        <a:effectLst/>
                        <a:latin typeface="Calibri" panose="020F0502020204030204" pitchFamily="34" charset="0"/>
                      </a:endParaRPr>
                    </a:p>
                  </a:txBody>
                  <a:tcPr marL="3810" marR="3810" marT="3810" marB="0" anchor="b">
                    <a:lnT w="12700" cap="flat" cmpd="sng" algn="ctr">
                      <a:solidFill>
                        <a:schemeClr val="tx1"/>
                      </a:solidFill>
                      <a:prstDash val="solid"/>
                      <a:round/>
                      <a:headEnd type="none" w="med" len="med"/>
                      <a:tailEnd type="none" w="med" len="med"/>
                    </a:lnT>
                  </a:tcPr>
                </a:tc>
                <a:tc>
                  <a:txBody>
                    <a:bodyPr/>
                    <a:lstStyle/>
                    <a:p>
                      <a:pPr algn="ctr" fontAlgn="ctr">
                        <a:buNone/>
                      </a:pPr>
                      <a:r>
                        <a:rPr lang="en-US" sz="2000" u="none" strike="noStrike">
                          <a:effectLst/>
                        </a:rPr>
                        <a:t>134</a:t>
                      </a:r>
                      <a:endParaRPr lang="en-US" sz="2000" b="0" i="0" u="none" strike="noStrike">
                        <a:solidFill>
                          <a:srgbClr val="000000"/>
                        </a:solidFill>
                        <a:effectLst/>
                        <a:latin typeface="Calibri" panose="020F0502020204030204" pitchFamily="34" charset="0"/>
                      </a:endParaRPr>
                    </a:p>
                  </a:txBody>
                  <a:tcPr marL="3810" marR="3810" marT="3810" marB="0" anchor="ctr">
                    <a:lnT w="12700" cap="flat" cmpd="sng" algn="ctr">
                      <a:solidFill>
                        <a:schemeClr val="tx1"/>
                      </a:solidFill>
                      <a:prstDash val="solid"/>
                      <a:round/>
                      <a:headEnd type="none" w="med" len="med"/>
                      <a:tailEnd type="none" w="med" len="med"/>
                    </a:lnT>
                  </a:tcPr>
                </a:tc>
                <a:tc>
                  <a:txBody>
                    <a:bodyPr/>
                    <a:lstStyle/>
                    <a:p>
                      <a:pPr algn="ctr" fontAlgn="ctr">
                        <a:buNone/>
                      </a:pPr>
                      <a:r>
                        <a:rPr lang="en-US" sz="2000" u="none" strike="noStrike">
                          <a:effectLst/>
                        </a:rPr>
                        <a:t>20.58%</a:t>
                      </a:r>
                      <a:endParaRPr lang="en-US" sz="2000" b="0" i="0" u="none" strike="noStrike">
                        <a:solidFill>
                          <a:srgbClr val="000000"/>
                        </a:solidFill>
                        <a:effectLst/>
                        <a:latin typeface="Calibri" panose="020F0502020204030204" pitchFamily="34" charset="0"/>
                      </a:endParaRPr>
                    </a:p>
                  </a:txBody>
                  <a:tcPr marL="3810" marR="3810" marT="3810"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649946366"/>
                  </a:ext>
                </a:extLst>
              </a:tr>
              <a:tr h="182880">
                <a:tc vMerge="1">
                  <a:txBody>
                    <a:bodyPr/>
                    <a:lstStyle/>
                    <a:p>
                      <a:endParaRPr lang="en-US"/>
                    </a:p>
                  </a:txBody>
                  <a:tcPr/>
                </a:tc>
                <a:tc>
                  <a:txBody>
                    <a:bodyPr/>
                    <a:lstStyle/>
                    <a:p>
                      <a:pPr algn="l" fontAlgn="b">
                        <a:buNone/>
                      </a:pPr>
                      <a:r>
                        <a:rPr lang="en-US" sz="2000" u="none" strike="noStrike">
                          <a:effectLst/>
                        </a:rPr>
                        <a:t>200-1000</a:t>
                      </a:r>
                      <a:endParaRPr lang="en-US" sz="2000" b="0" i="0" u="none" strike="noStrike">
                        <a:solidFill>
                          <a:srgbClr val="000000"/>
                        </a:solidFill>
                        <a:effectLst/>
                        <a:latin typeface="Calibri" panose="020F0502020204030204" pitchFamily="34" charset="0"/>
                      </a:endParaRPr>
                    </a:p>
                  </a:txBody>
                  <a:tcPr marL="3810" marR="3810" marT="3810" marB="0" anchor="b"/>
                </a:tc>
                <a:tc>
                  <a:txBody>
                    <a:bodyPr/>
                    <a:lstStyle/>
                    <a:p>
                      <a:pPr algn="ctr" fontAlgn="ctr">
                        <a:buNone/>
                      </a:pPr>
                      <a:r>
                        <a:rPr lang="en-US" sz="2000" u="none" strike="noStrike">
                          <a:effectLst/>
                        </a:rPr>
                        <a:t>81</a:t>
                      </a:r>
                      <a:endParaRPr lang="en-US" sz="2000" b="0" i="0" u="none" strike="noStrike">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a:effectLst/>
                        </a:rPr>
                        <a:t>12.44%</a:t>
                      </a:r>
                      <a:endParaRPr lang="en-US" sz="2000" b="0" i="0" u="none" strike="noStrike">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2949880754"/>
                  </a:ext>
                </a:extLst>
              </a:tr>
              <a:tr h="182880">
                <a:tc vMerge="1">
                  <a:txBody>
                    <a:bodyPr/>
                    <a:lstStyle/>
                    <a:p>
                      <a:endParaRPr lang="en-US"/>
                    </a:p>
                  </a:txBody>
                  <a:tcPr/>
                </a:tc>
                <a:tc>
                  <a:txBody>
                    <a:bodyPr/>
                    <a:lstStyle/>
                    <a:p>
                      <a:pPr algn="l" fontAlgn="b">
                        <a:buNone/>
                      </a:pPr>
                      <a:r>
                        <a:rPr lang="en-US" sz="2000" u="none" strike="noStrike" dirty="0">
                          <a:effectLst/>
                        </a:rPr>
                        <a:t>Unknown</a:t>
                      </a:r>
                      <a:endParaRPr lang="en-US" sz="2000" b="0" i="0" u="none" strike="noStrike" dirty="0">
                        <a:solidFill>
                          <a:srgbClr val="000000"/>
                        </a:solidFill>
                        <a:effectLst/>
                        <a:latin typeface="Calibri" panose="020F0502020204030204" pitchFamily="34" charset="0"/>
                      </a:endParaRPr>
                    </a:p>
                  </a:txBody>
                  <a:tcPr marL="3810" marR="3810" marT="3810" marB="0" anchor="b">
                    <a:lnB w="12700" cap="flat" cmpd="sng" algn="ctr">
                      <a:solidFill>
                        <a:schemeClr val="tx1"/>
                      </a:solidFill>
                      <a:prstDash val="solid"/>
                      <a:round/>
                      <a:headEnd type="none" w="med" len="med"/>
                      <a:tailEnd type="none" w="med" len="med"/>
                    </a:lnB>
                  </a:tcPr>
                </a:tc>
                <a:tc>
                  <a:txBody>
                    <a:bodyPr/>
                    <a:lstStyle/>
                    <a:p>
                      <a:pPr algn="ctr" fontAlgn="ctr">
                        <a:buNone/>
                      </a:pPr>
                      <a:r>
                        <a:rPr lang="en-US" sz="2000" u="none" strike="noStrike" dirty="0">
                          <a:effectLst/>
                        </a:rPr>
                        <a:t>54</a:t>
                      </a:r>
                      <a:endParaRPr lang="en-US" sz="2000" b="0" i="0" u="none" strike="noStrike" dirty="0">
                        <a:solidFill>
                          <a:srgbClr val="000000"/>
                        </a:solidFill>
                        <a:effectLst/>
                        <a:latin typeface="Calibri" panose="020F0502020204030204" pitchFamily="34" charset="0"/>
                      </a:endParaRPr>
                    </a:p>
                  </a:txBody>
                  <a:tcPr marL="3810" marR="3810" marT="3810" marB="0" anchor="ctr">
                    <a:lnB w="12700" cap="flat" cmpd="sng" algn="ctr">
                      <a:solidFill>
                        <a:schemeClr val="tx1"/>
                      </a:solidFill>
                      <a:prstDash val="solid"/>
                      <a:round/>
                      <a:headEnd type="none" w="med" len="med"/>
                      <a:tailEnd type="none" w="med" len="med"/>
                    </a:lnB>
                  </a:tcPr>
                </a:tc>
                <a:tc>
                  <a:txBody>
                    <a:bodyPr/>
                    <a:lstStyle/>
                    <a:p>
                      <a:pPr algn="ctr" fontAlgn="ctr">
                        <a:buNone/>
                      </a:pPr>
                      <a:r>
                        <a:rPr lang="en-US" sz="2000" u="none" strike="noStrike" dirty="0">
                          <a:effectLst/>
                        </a:rPr>
                        <a:t>8.29%</a:t>
                      </a:r>
                      <a:endParaRPr lang="en-US" sz="2000" b="0" i="0" u="none" strike="noStrike" dirty="0">
                        <a:solidFill>
                          <a:srgbClr val="000000"/>
                        </a:solidFill>
                        <a:effectLst/>
                        <a:latin typeface="Calibri" panose="020F0502020204030204" pitchFamily="34" charset="0"/>
                      </a:endParaRPr>
                    </a:p>
                  </a:txBody>
                  <a:tcPr marL="3810" marR="3810" marT="3810"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2155753"/>
                  </a:ext>
                </a:extLst>
              </a:tr>
              <a:tr h="182880">
                <a:tc rowSpan="8">
                  <a:txBody>
                    <a:bodyPr/>
                    <a:lstStyle/>
                    <a:p>
                      <a:pPr algn="ctr" fontAlgn="ctr">
                        <a:buNone/>
                      </a:pPr>
                      <a:r>
                        <a:rPr lang="en-US" sz="2000" u="none" strike="noStrike">
                          <a:effectLst/>
                        </a:rPr>
                        <a:t>Company type</a:t>
                      </a:r>
                      <a:endParaRPr lang="en-US" sz="2000" b="0" i="0" u="none" strike="noStrike">
                        <a:solidFill>
                          <a:srgbClr val="000000"/>
                        </a:solidFill>
                        <a:effectLst/>
                        <a:latin typeface="Calibri" panose="020F0502020204030204" pitchFamily="34" charset="0"/>
                      </a:endParaRPr>
                    </a:p>
                  </a:txBody>
                  <a:tcPr marL="3810" marR="3810" marT="381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000" u="none" strike="noStrike" dirty="0">
                          <a:effectLst/>
                        </a:rPr>
                        <a:t>Company - Private</a:t>
                      </a:r>
                      <a:endParaRPr lang="en-US" sz="2000" b="0" i="0" u="none" strike="noStrike" dirty="0">
                        <a:solidFill>
                          <a:srgbClr val="000000"/>
                        </a:solidFill>
                        <a:effectLst/>
                        <a:latin typeface="Calibri" panose="020F0502020204030204" pitchFamily="34" charset="0"/>
                      </a:endParaRPr>
                    </a:p>
                  </a:txBody>
                  <a:tcPr marL="3810" marR="3810" marT="3810" marB="0" anchor="b">
                    <a:lnT w="12700" cap="flat" cmpd="sng" algn="ctr">
                      <a:solidFill>
                        <a:schemeClr val="tx1"/>
                      </a:solidFill>
                      <a:prstDash val="solid"/>
                      <a:round/>
                      <a:headEnd type="none" w="med" len="med"/>
                      <a:tailEnd type="none" w="med" len="med"/>
                    </a:lnT>
                  </a:tcPr>
                </a:tc>
                <a:tc>
                  <a:txBody>
                    <a:bodyPr/>
                    <a:lstStyle/>
                    <a:p>
                      <a:pPr algn="ctr" fontAlgn="ctr">
                        <a:buNone/>
                      </a:pPr>
                      <a:r>
                        <a:rPr lang="en-US" sz="2000" u="none" strike="noStrike">
                          <a:effectLst/>
                        </a:rPr>
                        <a:t>259</a:t>
                      </a:r>
                      <a:endParaRPr lang="en-US" sz="2000" b="0" i="0" u="none" strike="noStrike">
                        <a:solidFill>
                          <a:srgbClr val="000000"/>
                        </a:solidFill>
                        <a:effectLst/>
                        <a:latin typeface="Calibri" panose="020F0502020204030204" pitchFamily="34" charset="0"/>
                      </a:endParaRPr>
                    </a:p>
                  </a:txBody>
                  <a:tcPr marL="3810" marR="3810" marT="3810" marB="0" anchor="ctr">
                    <a:lnT w="12700" cap="flat" cmpd="sng" algn="ctr">
                      <a:solidFill>
                        <a:schemeClr val="tx1"/>
                      </a:solidFill>
                      <a:prstDash val="solid"/>
                      <a:round/>
                      <a:headEnd type="none" w="med" len="med"/>
                      <a:tailEnd type="none" w="med" len="med"/>
                    </a:lnT>
                  </a:tcPr>
                </a:tc>
                <a:tc>
                  <a:txBody>
                    <a:bodyPr/>
                    <a:lstStyle/>
                    <a:p>
                      <a:pPr algn="ctr" fontAlgn="ctr">
                        <a:buNone/>
                      </a:pPr>
                      <a:r>
                        <a:rPr lang="en-US" sz="2000" u="none" strike="noStrike">
                          <a:effectLst/>
                        </a:rPr>
                        <a:t>39.78%</a:t>
                      </a:r>
                      <a:endParaRPr lang="en-US" sz="2000" b="0" i="0" u="none" strike="noStrike">
                        <a:solidFill>
                          <a:srgbClr val="000000"/>
                        </a:solidFill>
                        <a:effectLst/>
                        <a:latin typeface="Calibri" panose="020F0502020204030204" pitchFamily="34" charset="0"/>
                      </a:endParaRPr>
                    </a:p>
                  </a:txBody>
                  <a:tcPr marL="3810" marR="3810" marT="3810"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862591309"/>
                  </a:ext>
                </a:extLst>
              </a:tr>
              <a:tr h="182880">
                <a:tc vMerge="1">
                  <a:txBody>
                    <a:bodyPr/>
                    <a:lstStyle/>
                    <a:p>
                      <a:endParaRPr lang="en-US"/>
                    </a:p>
                  </a:txBody>
                  <a:tcPr/>
                </a:tc>
                <a:tc>
                  <a:txBody>
                    <a:bodyPr/>
                    <a:lstStyle/>
                    <a:p>
                      <a:pPr algn="l" fontAlgn="b">
                        <a:buNone/>
                      </a:pPr>
                      <a:r>
                        <a:rPr lang="en-US" sz="2000" u="none" strike="noStrike">
                          <a:effectLst/>
                        </a:rPr>
                        <a:t>Company - Public</a:t>
                      </a:r>
                      <a:endParaRPr lang="en-US" sz="2000" b="0" i="0" u="none" strike="noStrike">
                        <a:solidFill>
                          <a:srgbClr val="000000"/>
                        </a:solidFill>
                        <a:effectLst/>
                        <a:latin typeface="Calibri" panose="020F0502020204030204" pitchFamily="34" charset="0"/>
                      </a:endParaRPr>
                    </a:p>
                  </a:txBody>
                  <a:tcPr marL="3810" marR="3810" marT="3810" marB="0" anchor="b"/>
                </a:tc>
                <a:tc>
                  <a:txBody>
                    <a:bodyPr/>
                    <a:lstStyle/>
                    <a:p>
                      <a:pPr algn="ctr" fontAlgn="ctr">
                        <a:buNone/>
                      </a:pPr>
                      <a:r>
                        <a:rPr lang="en-US" sz="2000" u="none" strike="noStrike">
                          <a:effectLst/>
                        </a:rPr>
                        <a:t>251</a:t>
                      </a:r>
                      <a:endParaRPr lang="en-US" sz="2000" b="0" i="0" u="none" strike="noStrike">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a:effectLst/>
                        </a:rPr>
                        <a:t>38.56%</a:t>
                      </a:r>
                      <a:endParaRPr lang="en-US" sz="2000" b="0" i="0" u="none" strike="noStrike">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1151227712"/>
                  </a:ext>
                </a:extLst>
              </a:tr>
              <a:tr h="182880">
                <a:tc vMerge="1">
                  <a:txBody>
                    <a:bodyPr/>
                    <a:lstStyle/>
                    <a:p>
                      <a:endParaRPr lang="en-US"/>
                    </a:p>
                  </a:txBody>
                  <a:tcPr/>
                </a:tc>
                <a:tc>
                  <a:txBody>
                    <a:bodyPr/>
                    <a:lstStyle/>
                    <a:p>
                      <a:pPr algn="l" fontAlgn="b">
                        <a:buNone/>
                      </a:pPr>
                      <a:r>
                        <a:rPr lang="en-US" sz="2000" u="none" strike="noStrike">
                          <a:effectLst/>
                        </a:rPr>
                        <a:t>Nonprofit Organization</a:t>
                      </a:r>
                      <a:endParaRPr lang="en-US" sz="2000" b="0" i="0" u="none" strike="noStrike">
                        <a:solidFill>
                          <a:srgbClr val="000000"/>
                        </a:solidFill>
                        <a:effectLst/>
                        <a:latin typeface="Calibri" panose="020F0502020204030204" pitchFamily="34" charset="0"/>
                      </a:endParaRPr>
                    </a:p>
                  </a:txBody>
                  <a:tcPr marL="3810" marR="3810" marT="3810" marB="0" anchor="b"/>
                </a:tc>
                <a:tc>
                  <a:txBody>
                    <a:bodyPr/>
                    <a:lstStyle/>
                    <a:p>
                      <a:pPr algn="ctr" fontAlgn="ctr">
                        <a:buNone/>
                      </a:pPr>
                      <a:r>
                        <a:rPr lang="en-US" sz="2000" u="none" strike="noStrike">
                          <a:effectLst/>
                        </a:rPr>
                        <a:t>37</a:t>
                      </a:r>
                      <a:endParaRPr lang="en-US" sz="2000" b="0" i="0" u="none" strike="noStrike">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a:effectLst/>
                        </a:rPr>
                        <a:t>5.68%</a:t>
                      </a:r>
                      <a:endParaRPr lang="en-US" sz="2000" b="0" i="0" u="none" strike="noStrike">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2488871497"/>
                  </a:ext>
                </a:extLst>
              </a:tr>
              <a:tr h="182880">
                <a:tc vMerge="1">
                  <a:txBody>
                    <a:bodyPr/>
                    <a:lstStyle/>
                    <a:p>
                      <a:endParaRPr lang="en-US"/>
                    </a:p>
                  </a:txBody>
                  <a:tcPr/>
                </a:tc>
                <a:tc>
                  <a:txBody>
                    <a:bodyPr/>
                    <a:lstStyle/>
                    <a:p>
                      <a:pPr algn="l" fontAlgn="b">
                        <a:buNone/>
                      </a:pPr>
                      <a:r>
                        <a:rPr lang="en-US" sz="2000" u="none" strike="noStrike">
                          <a:effectLst/>
                        </a:rPr>
                        <a:t>Subsidiary or Business Segment</a:t>
                      </a:r>
                      <a:endParaRPr lang="en-US" sz="2000" b="0" i="0" u="none" strike="noStrike">
                        <a:solidFill>
                          <a:srgbClr val="000000"/>
                        </a:solidFill>
                        <a:effectLst/>
                        <a:latin typeface="Calibri" panose="020F0502020204030204" pitchFamily="34" charset="0"/>
                      </a:endParaRPr>
                    </a:p>
                  </a:txBody>
                  <a:tcPr marL="3810" marR="3810" marT="3810" marB="0" anchor="b"/>
                </a:tc>
                <a:tc>
                  <a:txBody>
                    <a:bodyPr/>
                    <a:lstStyle/>
                    <a:p>
                      <a:pPr algn="ctr" fontAlgn="ctr">
                        <a:buNone/>
                      </a:pPr>
                      <a:r>
                        <a:rPr lang="en-US" sz="2000" u="none" strike="noStrike">
                          <a:effectLst/>
                        </a:rPr>
                        <a:t>26</a:t>
                      </a:r>
                      <a:endParaRPr lang="en-US" sz="2000" b="0" i="0" u="none" strike="noStrike">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a:effectLst/>
                        </a:rPr>
                        <a:t>3.99%</a:t>
                      </a:r>
                      <a:endParaRPr lang="en-US" sz="2000" b="0" i="0" u="none" strike="noStrike">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1276323161"/>
                  </a:ext>
                </a:extLst>
              </a:tr>
              <a:tr h="182880">
                <a:tc vMerge="1">
                  <a:txBody>
                    <a:bodyPr/>
                    <a:lstStyle/>
                    <a:p>
                      <a:endParaRPr lang="en-US"/>
                    </a:p>
                  </a:txBody>
                  <a:tcPr/>
                </a:tc>
                <a:tc>
                  <a:txBody>
                    <a:bodyPr/>
                    <a:lstStyle/>
                    <a:p>
                      <a:pPr algn="l" fontAlgn="b">
                        <a:buNone/>
                      </a:pPr>
                      <a:r>
                        <a:rPr lang="en-US" sz="2000" u="none" strike="noStrike">
                          <a:effectLst/>
                        </a:rPr>
                        <a:t>Government</a:t>
                      </a:r>
                      <a:endParaRPr lang="en-US" sz="2000" b="0" i="0" u="none" strike="noStrike">
                        <a:solidFill>
                          <a:srgbClr val="000000"/>
                        </a:solidFill>
                        <a:effectLst/>
                        <a:latin typeface="Calibri" panose="020F0502020204030204" pitchFamily="34" charset="0"/>
                      </a:endParaRPr>
                    </a:p>
                  </a:txBody>
                  <a:tcPr marL="3810" marR="3810" marT="3810" marB="0" anchor="b"/>
                </a:tc>
                <a:tc>
                  <a:txBody>
                    <a:bodyPr/>
                    <a:lstStyle/>
                    <a:p>
                      <a:pPr algn="ctr" fontAlgn="ctr">
                        <a:buNone/>
                      </a:pPr>
                      <a:r>
                        <a:rPr lang="en-US" sz="2000" u="none" strike="noStrike">
                          <a:effectLst/>
                        </a:rPr>
                        <a:t>21</a:t>
                      </a:r>
                      <a:endParaRPr lang="en-US" sz="2000" b="0" i="0" u="none" strike="noStrike">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a:effectLst/>
                        </a:rPr>
                        <a:t>3.23%</a:t>
                      </a:r>
                      <a:endParaRPr lang="en-US" sz="2000" b="0" i="0" u="none" strike="noStrike">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3445132489"/>
                  </a:ext>
                </a:extLst>
              </a:tr>
              <a:tr h="182880">
                <a:tc vMerge="1">
                  <a:txBody>
                    <a:bodyPr/>
                    <a:lstStyle/>
                    <a:p>
                      <a:endParaRPr lang="en-US"/>
                    </a:p>
                  </a:txBody>
                  <a:tcPr/>
                </a:tc>
                <a:tc>
                  <a:txBody>
                    <a:bodyPr/>
                    <a:lstStyle/>
                    <a:p>
                      <a:pPr algn="l" fontAlgn="b">
                        <a:buNone/>
                      </a:pPr>
                      <a:r>
                        <a:rPr lang="en-US" sz="2000" u="none" strike="noStrike">
                          <a:effectLst/>
                        </a:rPr>
                        <a:t>Unknown</a:t>
                      </a:r>
                      <a:endParaRPr lang="en-US" sz="2000" b="0" i="0" u="none" strike="noStrike">
                        <a:solidFill>
                          <a:srgbClr val="000000"/>
                        </a:solidFill>
                        <a:effectLst/>
                        <a:latin typeface="Calibri" panose="020F0502020204030204" pitchFamily="34" charset="0"/>
                      </a:endParaRPr>
                    </a:p>
                  </a:txBody>
                  <a:tcPr marL="3810" marR="3810" marT="3810" marB="0" anchor="b"/>
                </a:tc>
                <a:tc>
                  <a:txBody>
                    <a:bodyPr/>
                    <a:lstStyle/>
                    <a:p>
                      <a:pPr algn="ctr" fontAlgn="ctr">
                        <a:buNone/>
                      </a:pPr>
                      <a:r>
                        <a:rPr lang="en-US" sz="2000" u="none" strike="noStrike">
                          <a:effectLst/>
                        </a:rPr>
                        <a:t>18</a:t>
                      </a:r>
                      <a:endParaRPr lang="en-US" sz="2000" b="0" i="0" u="none" strike="noStrike">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a:effectLst/>
                        </a:rPr>
                        <a:t>2.76%</a:t>
                      </a:r>
                      <a:endParaRPr lang="en-US" sz="2000" b="0" i="0" u="none" strike="noStrike">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1688885565"/>
                  </a:ext>
                </a:extLst>
              </a:tr>
              <a:tr h="182880">
                <a:tc vMerge="1">
                  <a:txBody>
                    <a:bodyPr/>
                    <a:lstStyle/>
                    <a:p>
                      <a:endParaRPr lang="en-US"/>
                    </a:p>
                  </a:txBody>
                  <a:tcPr/>
                </a:tc>
                <a:tc>
                  <a:txBody>
                    <a:bodyPr/>
                    <a:lstStyle/>
                    <a:p>
                      <a:pPr algn="l" fontAlgn="b">
                        <a:buNone/>
                      </a:pPr>
                      <a:r>
                        <a:rPr lang="en-US" sz="2000" u="none" strike="noStrike">
                          <a:effectLst/>
                        </a:rPr>
                        <a:t>College / University</a:t>
                      </a:r>
                      <a:endParaRPr lang="en-US" sz="2000" b="0" i="0" u="none" strike="noStrike">
                        <a:solidFill>
                          <a:srgbClr val="000000"/>
                        </a:solidFill>
                        <a:effectLst/>
                        <a:latin typeface="Calibri" panose="020F0502020204030204" pitchFamily="34" charset="0"/>
                      </a:endParaRPr>
                    </a:p>
                  </a:txBody>
                  <a:tcPr marL="3810" marR="3810" marT="3810" marB="0" anchor="b"/>
                </a:tc>
                <a:tc>
                  <a:txBody>
                    <a:bodyPr/>
                    <a:lstStyle/>
                    <a:p>
                      <a:pPr algn="ctr" fontAlgn="ctr">
                        <a:buNone/>
                      </a:pPr>
                      <a:r>
                        <a:rPr lang="en-US" sz="2000" u="none" strike="noStrike">
                          <a:effectLst/>
                        </a:rPr>
                        <a:t>17</a:t>
                      </a:r>
                      <a:endParaRPr lang="en-US" sz="2000" b="0" i="0" u="none" strike="noStrike">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a:effectLst/>
                        </a:rPr>
                        <a:t>2.61%</a:t>
                      </a:r>
                      <a:endParaRPr lang="en-US" sz="2000" b="0" i="0" u="none" strike="noStrike">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4100048194"/>
                  </a:ext>
                </a:extLst>
              </a:tr>
              <a:tr h="182880">
                <a:tc vMerge="1">
                  <a:txBody>
                    <a:bodyPr/>
                    <a:lstStyle/>
                    <a:p>
                      <a:endParaRPr lang="en-US"/>
                    </a:p>
                  </a:txBody>
                  <a:tcPr/>
                </a:tc>
                <a:tc>
                  <a:txBody>
                    <a:bodyPr/>
                    <a:lstStyle/>
                    <a:p>
                      <a:pPr algn="l" fontAlgn="b">
                        <a:buNone/>
                      </a:pPr>
                      <a:r>
                        <a:rPr lang="en-US" sz="2000" u="none" strike="noStrike" dirty="0">
                          <a:effectLst/>
                        </a:rPr>
                        <a:t>Others</a:t>
                      </a:r>
                      <a:endParaRPr lang="en-US" sz="2000" b="0" i="0" u="none" strike="noStrike" dirty="0">
                        <a:solidFill>
                          <a:srgbClr val="000000"/>
                        </a:solidFill>
                        <a:effectLst/>
                        <a:latin typeface="Calibri" panose="020F0502020204030204" pitchFamily="34" charset="0"/>
                      </a:endParaRPr>
                    </a:p>
                  </a:txBody>
                  <a:tcPr marL="3810" marR="3810" marT="3810" marB="0" anchor="b"/>
                </a:tc>
                <a:tc>
                  <a:txBody>
                    <a:bodyPr/>
                    <a:lstStyle/>
                    <a:p>
                      <a:pPr algn="ctr" fontAlgn="ctr">
                        <a:buNone/>
                      </a:pPr>
                      <a:r>
                        <a:rPr lang="en-US" sz="2000" u="none" strike="noStrike">
                          <a:effectLst/>
                        </a:rPr>
                        <a:t>22</a:t>
                      </a:r>
                      <a:endParaRPr lang="en-US" sz="2000" b="0" i="0" u="none" strike="noStrike">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a:effectLst/>
                        </a:rPr>
                        <a:t>3.37%</a:t>
                      </a:r>
                      <a:endParaRPr lang="en-US" sz="2000" b="0" i="0" u="none" strike="noStrike">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341067782"/>
                  </a:ext>
                </a:extLst>
              </a:tr>
              <a:tr h="182880">
                <a:tc rowSpan="10">
                  <a:txBody>
                    <a:bodyPr/>
                    <a:lstStyle/>
                    <a:p>
                      <a:pPr algn="ctr" fontAlgn="ctr">
                        <a:buNone/>
                      </a:pPr>
                      <a:r>
                        <a:rPr lang="en-US" sz="2000" u="none" strike="noStrike" dirty="0">
                          <a:effectLst/>
                        </a:rPr>
                        <a:t>sector</a:t>
                      </a:r>
                      <a:endParaRPr lang="en-US" sz="2000" b="0" i="0" u="none" strike="noStrike" dirty="0">
                        <a:solidFill>
                          <a:srgbClr val="000000"/>
                        </a:solidFill>
                        <a:effectLst/>
                        <a:latin typeface="Calibri" panose="020F0502020204030204" pitchFamily="34" charset="0"/>
                      </a:endParaRPr>
                    </a:p>
                  </a:txBody>
                  <a:tcPr marL="3810" marR="3810" marT="381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l" fontAlgn="b">
                        <a:buNone/>
                      </a:pPr>
                      <a:r>
                        <a:rPr lang="en-US" sz="2000" u="none" strike="noStrike">
                          <a:effectLst/>
                        </a:rPr>
                        <a:t>Information Technology</a:t>
                      </a:r>
                      <a:endParaRPr lang="en-US" sz="2000" b="0" i="0" u="none" strike="noStrike">
                        <a:solidFill>
                          <a:srgbClr val="000000"/>
                        </a:solidFill>
                        <a:effectLst/>
                        <a:latin typeface="Calibri" panose="020F0502020204030204" pitchFamily="34" charset="0"/>
                      </a:endParaRPr>
                    </a:p>
                  </a:txBody>
                  <a:tcPr marL="3810" marR="3810" marT="3810" marB="0" anchor="b">
                    <a:lnL w="12700" cap="flat" cmpd="sng" algn="ctr">
                      <a:solidFill>
                        <a:schemeClr val="tx1"/>
                      </a:solidFill>
                      <a:prstDash val="solid"/>
                      <a:round/>
                      <a:headEnd type="none" w="med" len="med"/>
                      <a:tailEnd type="none" w="med" len="med"/>
                    </a:lnL>
                  </a:tcPr>
                </a:tc>
                <a:tc>
                  <a:txBody>
                    <a:bodyPr/>
                    <a:lstStyle/>
                    <a:p>
                      <a:pPr algn="ctr" fontAlgn="ctr">
                        <a:buNone/>
                      </a:pPr>
                      <a:r>
                        <a:rPr lang="en-US" sz="2000" u="none" strike="noStrike">
                          <a:effectLst/>
                        </a:rPr>
                        <a:t>186</a:t>
                      </a:r>
                      <a:endParaRPr lang="en-US" sz="2000" b="0" i="0" u="none" strike="noStrike">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a:effectLst/>
                        </a:rPr>
                        <a:t>28.57%</a:t>
                      </a:r>
                      <a:endParaRPr lang="en-US" sz="2000" b="0" i="0" u="none" strike="noStrike">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3476760539"/>
                  </a:ext>
                </a:extLst>
              </a:tr>
              <a:tr h="182880">
                <a:tc vMerge="1">
                  <a:txBody>
                    <a:bodyPr/>
                    <a:lstStyle/>
                    <a:p>
                      <a:endParaRPr lang="en-US"/>
                    </a:p>
                  </a:txBody>
                  <a:tcPr/>
                </a:tc>
                <a:tc>
                  <a:txBody>
                    <a:bodyPr/>
                    <a:lstStyle/>
                    <a:p>
                      <a:pPr algn="l" fontAlgn="b">
                        <a:buNone/>
                      </a:pPr>
                      <a:r>
                        <a:rPr lang="en-US" sz="2000" u="none" strike="noStrike">
                          <a:effectLst/>
                        </a:rPr>
                        <a:t>Unknown</a:t>
                      </a:r>
                      <a:endParaRPr lang="en-US" sz="2000" b="0" i="0" u="none" strike="noStrike">
                        <a:solidFill>
                          <a:srgbClr val="000000"/>
                        </a:solidFill>
                        <a:effectLst/>
                        <a:latin typeface="Calibri" panose="020F0502020204030204" pitchFamily="34" charset="0"/>
                      </a:endParaRPr>
                    </a:p>
                  </a:txBody>
                  <a:tcPr marL="3810" marR="3810" marT="3810" marB="0" anchor="b">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buNone/>
                      </a:pPr>
                      <a:r>
                        <a:rPr lang="en-US" sz="2000" u="none" strike="noStrike">
                          <a:effectLst/>
                        </a:rPr>
                        <a:t>64</a:t>
                      </a:r>
                      <a:endParaRPr lang="en-US" sz="2000" b="0" i="0" u="none" strike="noStrike">
                        <a:solidFill>
                          <a:srgbClr val="000000"/>
                        </a:solidFill>
                        <a:effectLst/>
                        <a:latin typeface="Calibri" panose="020F0502020204030204" pitchFamily="34" charset="0"/>
                      </a:endParaRPr>
                    </a:p>
                  </a:txBody>
                  <a:tcPr marL="3810" marR="3810" marT="3810" marB="0" anchor="ctr">
                    <a:lnB w="12700" cap="flat" cmpd="sng" algn="ctr">
                      <a:solidFill>
                        <a:schemeClr val="tx1"/>
                      </a:solidFill>
                      <a:prstDash val="solid"/>
                      <a:round/>
                      <a:headEnd type="none" w="med" len="med"/>
                      <a:tailEnd type="none" w="med" len="med"/>
                    </a:lnB>
                  </a:tcPr>
                </a:tc>
                <a:tc>
                  <a:txBody>
                    <a:bodyPr/>
                    <a:lstStyle/>
                    <a:p>
                      <a:pPr algn="ctr" fontAlgn="ctr">
                        <a:buNone/>
                      </a:pPr>
                      <a:r>
                        <a:rPr lang="en-US" sz="2000" u="none" strike="noStrike">
                          <a:effectLst/>
                        </a:rPr>
                        <a:t>9.83%</a:t>
                      </a:r>
                      <a:endParaRPr lang="en-US" sz="2000" b="0" i="0" u="none" strike="noStrike">
                        <a:solidFill>
                          <a:srgbClr val="000000"/>
                        </a:solidFill>
                        <a:effectLst/>
                        <a:latin typeface="Calibri" panose="020F0502020204030204" pitchFamily="34" charset="0"/>
                      </a:endParaRPr>
                    </a:p>
                  </a:txBody>
                  <a:tcPr marL="3810" marR="3810" marT="3810"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5291167"/>
                  </a:ext>
                </a:extLst>
              </a:tr>
              <a:tr h="182880">
                <a:tc vMerge="1">
                  <a:txBody>
                    <a:bodyPr/>
                    <a:lstStyle/>
                    <a:p>
                      <a:endParaRPr lang="en-US"/>
                    </a:p>
                  </a:txBody>
                  <a:tcPr/>
                </a:tc>
                <a:tc>
                  <a:txBody>
                    <a:bodyPr/>
                    <a:lstStyle/>
                    <a:p>
                      <a:pPr algn="l" fontAlgn="b">
                        <a:buNone/>
                      </a:pPr>
                      <a:r>
                        <a:rPr lang="en-US" sz="2000" u="none" strike="noStrike" dirty="0">
                          <a:effectLst/>
                        </a:rPr>
                        <a:t>Manufacturing</a:t>
                      </a:r>
                      <a:endParaRPr lang="en-US" sz="2000" b="0" i="0" u="none" strike="noStrike" dirty="0">
                        <a:solidFill>
                          <a:srgbClr val="000000"/>
                        </a:solidFill>
                        <a:effectLst/>
                        <a:latin typeface="Calibri" panose="020F0502020204030204" pitchFamily="34" charset="0"/>
                      </a:endParaRPr>
                    </a:p>
                  </a:txBody>
                  <a:tcPr marL="3810" marR="3810" marT="3810" marB="0" anchor="b">
                    <a:lnT w="12700" cap="flat" cmpd="sng" algn="ctr">
                      <a:solidFill>
                        <a:schemeClr val="tx1"/>
                      </a:solidFill>
                      <a:prstDash val="solid"/>
                      <a:round/>
                      <a:headEnd type="none" w="med" len="med"/>
                      <a:tailEnd type="none" w="med" len="med"/>
                    </a:lnT>
                  </a:tcPr>
                </a:tc>
                <a:tc>
                  <a:txBody>
                    <a:bodyPr/>
                    <a:lstStyle/>
                    <a:p>
                      <a:pPr algn="ctr" fontAlgn="ctr">
                        <a:buNone/>
                      </a:pPr>
                      <a:r>
                        <a:rPr lang="en-US" sz="2000" u="none" strike="noStrike">
                          <a:effectLst/>
                        </a:rPr>
                        <a:t>43</a:t>
                      </a:r>
                      <a:endParaRPr lang="en-US" sz="2000" b="0" i="0" u="none" strike="noStrike">
                        <a:solidFill>
                          <a:srgbClr val="000000"/>
                        </a:solidFill>
                        <a:effectLst/>
                        <a:latin typeface="Calibri" panose="020F0502020204030204" pitchFamily="34" charset="0"/>
                      </a:endParaRPr>
                    </a:p>
                  </a:txBody>
                  <a:tcPr marL="3810" marR="3810" marT="3810" marB="0" anchor="ctr">
                    <a:lnT w="12700" cap="flat" cmpd="sng" algn="ctr">
                      <a:solidFill>
                        <a:schemeClr val="tx1"/>
                      </a:solidFill>
                      <a:prstDash val="solid"/>
                      <a:round/>
                      <a:headEnd type="none" w="med" len="med"/>
                      <a:tailEnd type="none" w="med" len="med"/>
                    </a:lnT>
                  </a:tcPr>
                </a:tc>
                <a:tc>
                  <a:txBody>
                    <a:bodyPr/>
                    <a:lstStyle/>
                    <a:p>
                      <a:pPr algn="ctr" fontAlgn="ctr">
                        <a:buNone/>
                      </a:pPr>
                      <a:r>
                        <a:rPr lang="en-US" sz="2000" u="none" strike="noStrike">
                          <a:effectLst/>
                        </a:rPr>
                        <a:t>6.61%</a:t>
                      </a:r>
                      <a:endParaRPr lang="en-US" sz="2000" b="0" i="0" u="none" strike="noStrike">
                        <a:solidFill>
                          <a:srgbClr val="000000"/>
                        </a:solidFill>
                        <a:effectLst/>
                        <a:latin typeface="Calibri" panose="020F0502020204030204" pitchFamily="34" charset="0"/>
                      </a:endParaRPr>
                    </a:p>
                  </a:txBody>
                  <a:tcPr marL="3810" marR="3810" marT="3810"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421764072"/>
                  </a:ext>
                </a:extLst>
              </a:tr>
              <a:tr h="182880">
                <a:tc vMerge="1">
                  <a:txBody>
                    <a:bodyPr/>
                    <a:lstStyle/>
                    <a:p>
                      <a:endParaRPr lang="en-US"/>
                    </a:p>
                  </a:txBody>
                  <a:tcPr/>
                </a:tc>
                <a:tc>
                  <a:txBody>
                    <a:bodyPr/>
                    <a:lstStyle/>
                    <a:p>
                      <a:pPr algn="l" fontAlgn="b">
                        <a:buNone/>
                      </a:pPr>
                      <a:r>
                        <a:rPr lang="en-US" sz="2000" u="none" strike="noStrike" dirty="0">
                          <a:effectLst/>
                        </a:rPr>
                        <a:t>Financial Services</a:t>
                      </a:r>
                      <a:endParaRPr lang="en-US" sz="2000" b="0" i="0" u="none" strike="noStrike" dirty="0">
                        <a:solidFill>
                          <a:srgbClr val="000000"/>
                        </a:solidFill>
                        <a:effectLst/>
                        <a:latin typeface="Calibri" panose="020F0502020204030204" pitchFamily="34" charset="0"/>
                      </a:endParaRPr>
                    </a:p>
                  </a:txBody>
                  <a:tcPr marL="3810" marR="3810" marT="3810" marB="0" anchor="b"/>
                </a:tc>
                <a:tc>
                  <a:txBody>
                    <a:bodyPr/>
                    <a:lstStyle/>
                    <a:p>
                      <a:pPr algn="ctr" fontAlgn="ctr">
                        <a:buNone/>
                      </a:pPr>
                      <a:r>
                        <a:rPr lang="en-US" sz="2000" u="none" strike="noStrike" dirty="0">
                          <a:effectLst/>
                        </a:rPr>
                        <a:t>42</a:t>
                      </a:r>
                      <a:endParaRPr lang="en-US" sz="2000" b="0" i="0" u="none" strike="noStrike" dirty="0">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dirty="0">
                          <a:effectLst/>
                        </a:rPr>
                        <a:t>6.45%</a:t>
                      </a:r>
                      <a:endParaRPr lang="en-US" sz="2000" b="0" i="0" u="none" strike="noStrike" dirty="0">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3949969720"/>
                  </a:ext>
                </a:extLst>
              </a:tr>
              <a:tr h="182880">
                <a:tc vMerge="1">
                  <a:txBody>
                    <a:bodyPr/>
                    <a:lstStyle/>
                    <a:p>
                      <a:endParaRPr lang="en-US"/>
                    </a:p>
                  </a:txBody>
                  <a:tcPr/>
                </a:tc>
                <a:tc>
                  <a:txBody>
                    <a:bodyPr/>
                    <a:lstStyle/>
                    <a:p>
                      <a:pPr algn="l" fontAlgn="b">
                        <a:buNone/>
                      </a:pPr>
                      <a:r>
                        <a:rPr lang="en-US" sz="2000" u="none" strike="noStrike">
                          <a:effectLst/>
                        </a:rPr>
                        <a:t>Management &amp; Consulting</a:t>
                      </a:r>
                      <a:endParaRPr lang="en-US" sz="2000" b="0" i="0" u="none" strike="noStrike">
                        <a:solidFill>
                          <a:srgbClr val="000000"/>
                        </a:solidFill>
                        <a:effectLst/>
                        <a:latin typeface="Calibri" panose="020F0502020204030204" pitchFamily="34" charset="0"/>
                      </a:endParaRPr>
                    </a:p>
                  </a:txBody>
                  <a:tcPr marL="3810" marR="3810" marT="3810" marB="0" anchor="b"/>
                </a:tc>
                <a:tc>
                  <a:txBody>
                    <a:bodyPr/>
                    <a:lstStyle/>
                    <a:p>
                      <a:pPr algn="ctr" fontAlgn="ctr">
                        <a:buNone/>
                      </a:pPr>
                      <a:r>
                        <a:rPr lang="en-US" sz="2000" u="none" strike="noStrike">
                          <a:effectLst/>
                        </a:rPr>
                        <a:t>40</a:t>
                      </a:r>
                      <a:endParaRPr lang="en-US" sz="2000" b="0" i="0" u="none" strike="noStrike">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dirty="0">
                          <a:effectLst/>
                        </a:rPr>
                        <a:t>6.14%</a:t>
                      </a:r>
                      <a:endParaRPr lang="en-US" sz="2000" b="0" i="0" u="none" strike="noStrike" dirty="0">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4131534305"/>
                  </a:ext>
                </a:extLst>
              </a:tr>
              <a:tr h="182880">
                <a:tc vMerge="1">
                  <a:txBody>
                    <a:bodyPr/>
                    <a:lstStyle/>
                    <a:p>
                      <a:endParaRPr lang="en-US"/>
                    </a:p>
                  </a:txBody>
                  <a:tcPr/>
                </a:tc>
                <a:tc>
                  <a:txBody>
                    <a:bodyPr/>
                    <a:lstStyle/>
                    <a:p>
                      <a:pPr algn="l" fontAlgn="b">
                        <a:buNone/>
                      </a:pPr>
                      <a:r>
                        <a:rPr lang="en-US" sz="2000" u="none" strike="noStrike">
                          <a:effectLst/>
                        </a:rPr>
                        <a:t>Retail &amp; Wholesale</a:t>
                      </a:r>
                      <a:endParaRPr lang="en-US" sz="2000" b="0" i="0" u="none" strike="noStrike">
                        <a:solidFill>
                          <a:srgbClr val="000000"/>
                        </a:solidFill>
                        <a:effectLst/>
                        <a:latin typeface="Calibri" panose="020F0502020204030204" pitchFamily="34" charset="0"/>
                      </a:endParaRPr>
                    </a:p>
                  </a:txBody>
                  <a:tcPr marL="3810" marR="3810" marT="3810" marB="0" anchor="b"/>
                </a:tc>
                <a:tc>
                  <a:txBody>
                    <a:bodyPr/>
                    <a:lstStyle/>
                    <a:p>
                      <a:pPr algn="ctr" fontAlgn="ctr">
                        <a:buNone/>
                      </a:pPr>
                      <a:r>
                        <a:rPr lang="en-US" sz="2000" u="none" strike="noStrike" dirty="0">
                          <a:effectLst/>
                        </a:rPr>
                        <a:t>35</a:t>
                      </a:r>
                      <a:endParaRPr lang="en-US" sz="2000" b="0" i="0" u="none" strike="noStrike" dirty="0">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dirty="0">
                          <a:effectLst/>
                        </a:rPr>
                        <a:t>5.38%</a:t>
                      </a:r>
                      <a:endParaRPr lang="en-US" sz="2000" b="0" i="0" u="none" strike="noStrike" dirty="0">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2691817351"/>
                  </a:ext>
                </a:extLst>
              </a:tr>
              <a:tr h="182880">
                <a:tc vMerge="1">
                  <a:txBody>
                    <a:bodyPr/>
                    <a:lstStyle/>
                    <a:p>
                      <a:endParaRPr lang="en-US"/>
                    </a:p>
                  </a:txBody>
                  <a:tcPr/>
                </a:tc>
                <a:tc>
                  <a:txBody>
                    <a:bodyPr/>
                    <a:lstStyle/>
                    <a:p>
                      <a:pPr algn="l" fontAlgn="b">
                        <a:buNone/>
                      </a:pPr>
                      <a:r>
                        <a:rPr lang="en-US" sz="2000" u="none" strike="noStrike">
                          <a:effectLst/>
                        </a:rPr>
                        <a:t>Pharmaceutical &amp; Biotechnology</a:t>
                      </a:r>
                      <a:endParaRPr lang="en-US" sz="2000" b="0" i="0" u="none" strike="noStrike">
                        <a:solidFill>
                          <a:srgbClr val="000000"/>
                        </a:solidFill>
                        <a:effectLst/>
                        <a:latin typeface="Calibri" panose="020F0502020204030204" pitchFamily="34" charset="0"/>
                      </a:endParaRPr>
                    </a:p>
                  </a:txBody>
                  <a:tcPr marL="3810" marR="3810" marT="3810" marB="0" anchor="b"/>
                </a:tc>
                <a:tc>
                  <a:txBody>
                    <a:bodyPr/>
                    <a:lstStyle/>
                    <a:p>
                      <a:pPr algn="ctr" fontAlgn="ctr">
                        <a:buNone/>
                      </a:pPr>
                      <a:r>
                        <a:rPr lang="en-US" sz="2000" u="none" strike="noStrike">
                          <a:effectLst/>
                        </a:rPr>
                        <a:t>32</a:t>
                      </a:r>
                      <a:endParaRPr lang="en-US" sz="2000" b="0" i="0" u="none" strike="noStrike">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a:effectLst/>
                        </a:rPr>
                        <a:t>4.92%</a:t>
                      </a:r>
                      <a:endParaRPr lang="en-US" sz="2000" b="0" i="0" u="none" strike="noStrike">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2840991081"/>
                  </a:ext>
                </a:extLst>
              </a:tr>
              <a:tr h="182880">
                <a:tc vMerge="1">
                  <a:txBody>
                    <a:bodyPr/>
                    <a:lstStyle/>
                    <a:p>
                      <a:endParaRPr lang="en-US"/>
                    </a:p>
                  </a:txBody>
                  <a:tcPr/>
                </a:tc>
                <a:tc>
                  <a:txBody>
                    <a:bodyPr/>
                    <a:lstStyle/>
                    <a:p>
                      <a:pPr algn="l" fontAlgn="b">
                        <a:buNone/>
                      </a:pPr>
                      <a:r>
                        <a:rPr lang="en-US" sz="2000" u="none" strike="noStrike">
                          <a:effectLst/>
                        </a:rPr>
                        <a:t>Aerospace &amp; Defense</a:t>
                      </a:r>
                      <a:endParaRPr lang="en-US" sz="2000" b="0" i="0" u="none" strike="noStrike">
                        <a:solidFill>
                          <a:srgbClr val="000000"/>
                        </a:solidFill>
                        <a:effectLst/>
                        <a:latin typeface="Calibri" panose="020F0502020204030204" pitchFamily="34" charset="0"/>
                      </a:endParaRPr>
                    </a:p>
                  </a:txBody>
                  <a:tcPr marL="3810" marR="3810" marT="3810" marB="0" anchor="b"/>
                </a:tc>
                <a:tc>
                  <a:txBody>
                    <a:bodyPr/>
                    <a:lstStyle/>
                    <a:p>
                      <a:pPr algn="ctr" fontAlgn="ctr">
                        <a:buNone/>
                      </a:pPr>
                      <a:r>
                        <a:rPr lang="en-US" sz="2000" u="none" strike="noStrike">
                          <a:effectLst/>
                        </a:rPr>
                        <a:t>32</a:t>
                      </a:r>
                      <a:endParaRPr lang="en-US" sz="2000" b="0" i="0" u="none" strike="noStrike">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dirty="0">
                          <a:effectLst/>
                        </a:rPr>
                        <a:t>4.92%</a:t>
                      </a:r>
                      <a:endParaRPr lang="en-US" sz="2000" b="0" i="0" u="none" strike="noStrike" dirty="0">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2185781884"/>
                  </a:ext>
                </a:extLst>
              </a:tr>
              <a:tr h="182880">
                <a:tc vMerge="1">
                  <a:txBody>
                    <a:bodyPr/>
                    <a:lstStyle/>
                    <a:p>
                      <a:endParaRPr lang="en-US"/>
                    </a:p>
                  </a:txBody>
                  <a:tcPr/>
                </a:tc>
                <a:tc>
                  <a:txBody>
                    <a:bodyPr/>
                    <a:lstStyle/>
                    <a:p>
                      <a:pPr algn="l" fontAlgn="b">
                        <a:buNone/>
                      </a:pPr>
                      <a:r>
                        <a:rPr lang="en-US" sz="2000" u="none" strike="noStrike" dirty="0">
                          <a:effectLst/>
                        </a:rPr>
                        <a:t>Healthcare</a:t>
                      </a:r>
                      <a:endParaRPr lang="en-US" sz="2000" b="0" i="0" u="none" strike="noStrike" dirty="0">
                        <a:solidFill>
                          <a:srgbClr val="000000"/>
                        </a:solidFill>
                        <a:effectLst/>
                        <a:latin typeface="Calibri" panose="020F0502020204030204" pitchFamily="34" charset="0"/>
                      </a:endParaRPr>
                    </a:p>
                  </a:txBody>
                  <a:tcPr marL="3810" marR="3810" marT="3810" marB="0" anchor="b"/>
                </a:tc>
                <a:tc>
                  <a:txBody>
                    <a:bodyPr/>
                    <a:lstStyle/>
                    <a:p>
                      <a:pPr algn="ctr" fontAlgn="ctr">
                        <a:buNone/>
                      </a:pPr>
                      <a:r>
                        <a:rPr lang="en-US" sz="2000" u="none" strike="noStrike">
                          <a:effectLst/>
                        </a:rPr>
                        <a:t>32</a:t>
                      </a:r>
                      <a:endParaRPr lang="en-US" sz="2000" b="0" i="0" u="none" strike="noStrike">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dirty="0">
                          <a:effectLst/>
                        </a:rPr>
                        <a:t>4.92%</a:t>
                      </a:r>
                      <a:endParaRPr lang="en-US" sz="2000" b="0" i="0" u="none" strike="noStrike" dirty="0">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1985889582"/>
                  </a:ext>
                </a:extLst>
              </a:tr>
              <a:tr h="182880">
                <a:tc vMerge="1">
                  <a:txBody>
                    <a:bodyPr/>
                    <a:lstStyle/>
                    <a:p>
                      <a:endParaRPr lang="en-US"/>
                    </a:p>
                  </a:txBody>
                  <a:tcPr/>
                </a:tc>
                <a:tc>
                  <a:txBody>
                    <a:bodyPr/>
                    <a:lstStyle/>
                    <a:p>
                      <a:pPr algn="l" fontAlgn="b">
                        <a:buNone/>
                      </a:pPr>
                      <a:r>
                        <a:rPr lang="en-US" sz="2000" u="none" strike="noStrike" dirty="0">
                          <a:effectLst/>
                        </a:rPr>
                        <a:t>Other</a:t>
                      </a:r>
                      <a:endParaRPr lang="en-US" sz="2000" b="0" i="0" u="none" strike="noStrike" dirty="0">
                        <a:solidFill>
                          <a:srgbClr val="000000"/>
                        </a:solidFill>
                        <a:effectLst/>
                        <a:latin typeface="Calibri" panose="020F0502020204030204" pitchFamily="34" charset="0"/>
                      </a:endParaRPr>
                    </a:p>
                  </a:txBody>
                  <a:tcPr marL="3810" marR="3810" marT="3810" marB="0" anchor="b"/>
                </a:tc>
                <a:tc>
                  <a:txBody>
                    <a:bodyPr/>
                    <a:lstStyle/>
                    <a:p>
                      <a:pPr algn="ctr" fontAlgn="ctr">
                        <a:buNone/>
                      </a:pPr>
                      <a:r>
                        <a:rPr lang="en-US" sz="2000" u="none" strike="noStrike">
                          <a:effectLst/>
                        </a:rPr>
                        <a:t>145</a:t>
                      </a:r>
                      <a:endParaRPr lang="en-US" sz="2000" b="0" i="0" u="none" strike="noStrike">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dirty="0">
                          <a:effectLst/>
                        </a:rPr>
                        <a:t>22.26%</a:t>
                      </a:r>
                      <a:endParaRPr lang="en-US" sz="2000" b="0" i="0" u="none" strike="noStrike" dirty="0">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476279214"/>
                  </a:ext>
                </a:extLst>
              </a:tr>
            </a:tbl>
          </a:graphicData>
        </a:graphic>
      </p:graphicFrame>
      <p:sp>
        <p:nvSpPr>
          <p:cNvPr id="14" name="TextBox 13">
            <a:extLst>
              <a:ext uri="{FF2B5EF4-FFF2-40B4-BE49-F238E27FC236}">
                <a16:creationId xmlns:a16="http://schemas.microsoft.com/office/drawing/2014/main" id="{856B398C-10F5-8287-46EB-D46B9A1FC2F3}"/>
              </a:ext>
            </a:extLst>
          </p:cNvPr>
          <p:cNvSpPr txBox="1"/>
          <p:nvPr/>
        </p:nvSpPr>
        <p:spPr>
          <a:xfrm>
            <a:off x="8701079" y="11401094"/>
            <a:ext cx="6722154" cy="954107"/>
          </a:xfrm>
          <a:prstGeom prst="rect">
            <a:avLst/>
          </a:prstGeom>
          <a:noFill/>
        </p:spPr>
        <p:txBody>
          <a:bodyPr wrap="square">
            <a:spAutoFit/>
          </a:bodyPr>
          <a:lstStyle/>
          <a:p>
            <a:pPr algn="l" defTabSz="437644" eaLnBrk="0" hangingPunct="0">
              <a:spcAft>
                <a:spcPts val="1200"/>
              </a:spcAft>
            </a:pPr>
            <a:r>
              <a:rPr lang="en-US" sz="2800" dirty="0"/>
              <a:t>Descriptive overview of the study sample (N = 652 job postings)</a:t>
            </a:r>
            <a:endParaRPr lang="en-US" sz="6600" dirty="0"/>
          </a:p>
        </p:txBody>
      </p:sp>
    </p:spTree>
  </p:cSld>
  <p:clrMapOvr>
    <a:masterClrMapping/>
  </p:clrMapOvr>
</p:sld>
</file>

<file path=ppt/theme/theme1.xml><?xml version="1.0" encoding="utf-8"?>
<a:theme xmlns:a="http://schemas.openxmlformats.org/drawingml/2006/main" name="Default Design">
  <a:themeElements>
    <a:clrScheme name="Custom 28">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FFFFFF"/>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4389438" rtl="0" eaLnBrk="1" fontAlgn="base" latinLnBrk="0" hangingPunct="1">
          <a:lnSpc>
            <a:spcPct val="100000"/>
          </a:lnSpc>
          <a:spcBef>
            <a:spcPct val="0"/>
          </a:spcBef>
          <a:spcAft>
            <a:spcPct val="0"/>
          </a:spcAft>
          <a:buClrTx/>
          <a:buSzTx/>
          <a:buFontTx/>
          <a:buNone/>
          <a:tabLst/>
          <a:defRPr kumimoji="0" lang="en-US" sz="86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4389438" rtl="0" eaLnBrk="1" fontAlgn="base" latinLnBrk="0" hangingPunct="1">
          <a:lnSpc>
            <a:spcPct val="100000"/>
          </a:lnSpc>
          <a:spcBef>
            <a:spcPct val="0"/>
          </a:spcBef>
          <a:spcAft>
            <a:spcPct val="0"/>
          </a:spcAft>
          <a:buClrTx/>
          <a:buSzTx/>
          <a:buFontTx/>
          <a:buNone/>
          <a:tabLst/>
          <a:defRPr kumimoji="0" lang="en-US" sz="86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8F9F0EBF511CE45A79FBB72A52630DC" ma:contentTypeVersion="12" ma:contentTypeDescription="Create a new document." ma:contentTypeScope="" ma:versionID="bf552cc763acd788fa927423af768369">
  <xsd:schema xmlns:xsd="http://www.w3.org/2001/XMLSchema" xmlns:xs="http://www.w3.org/2001/XMLSchema" xmlns:p="http://schemas.microsoft.com/office/2006/metadata/properties" xmlns:ns2="4822595b-a849-42b7-b469-57ccc9ff274d" xmlns:ns3="e0f52240-22ff-4af7-aad0-dab41dbb4f16" targetNamespace="http://schemas.microsoft.com/office/2006/metadata/properties" ma:root="true" ma:fieldsID="24f664e83530a41b1a58abd3c0ca734f" ns2:_="" ns3:_="">
    <xsd:import namespace="4822595b-a849-42b7-b469-57ccc9ff274d"/>
    <xsd:import namespace="e0f52240-22ff-4af7-aad0-dab41dbb4f1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Location" minOccurs="0"/>
                <xsd:element ref="ns2:MediaServiceOCR" minOccurs="0"/>
                <xsd:element ref="ns2:MediaServiceGenerationTime" minOccurs="0"/>
                <xsd:element ref="ns2:MediaServiceEventHashCode"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22595b-a849-42b7-b469-57ccc9ff27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Location" ma:index="14" nillable="true" ma:displayName="Location" ma:internalName="MediaServiceLocatio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0f52240-22ff-4af7-aad0-dab41dbb4f16"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3E4EC20-8633-4F10-AE54-10642E5F2A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22595b-a849-42b7-b469-57ccc9ff274d"/>
    <ds:schemaRef ds:uri="e0f52240-22ff-4af7-aad0-dab41dbb4f1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400CEF9-AD5F-4272-ADB4-C283A78994EF}">
  <ds:schemaRefs>
    <ds:schemaRef ds:uri="http://schemas.microsoft.com/office/2006/documentManagement/types"/>
    <ds:schemaRef ds:uri="http://purl.org/dc/terms/"/>
    <ds:schemaRef ds:uri="http://schemas.openxmlformats.org/package/2006/metadata/core-properties"/>
    <ds:schemaRef ds:uri="http://purl.org/dc/dcmitype/"/>
    <ds:schemaRef ds:uri="http://schemas.microsoft.com/office/infopath/2007/PartnerControls"/>
    <ds:schemaRef ds:uri="http://purl.org/dc/elements/1.1/"/>
    <ds:schemaRef ds:uri="e0f52240-22ff-4af7-aad0-dab41dbb4f16"/>
    <ds:schemaRef ds:uri="4822595b-a849-42b7-b469-57ccc9ff274d"/>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B9C3F571-26D0-4EC9-AD21-302ECB41B7B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Couture</Template>
  <TotalTime>1583</TotalTime>
  <Words>825</Words>
  <Application>Microsoft Office PowerPoint</Application>
  <PresentationFormat>Custom</PresentationFormat>
  <Paragraphs>144</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Default Design</vt:lpstr>
      <vt:lpstr>PowerPoint Presentation</vt:lpstr>
    </vt:vector>
  </TitlesOfParts>
  <Company>MegaPrint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36x48 Horizontal Poster</dc:title>
  <dc:creator>Ethan Shulda</dc:creator>
  <dc:description>©MegaPrint Inc. 2009</dc:description>
  <cp:lastModifiedBy>Tran, Denley</cp:lastModifiedBy>
  <cp:revision>94</cp:revision>
  <cp:lastPrinted>2014-03-18T19:21:06Z</cp:lastPrinted>
  <dcterms:created xsi:type="dcterms:W3CDTF">2008-12-04T00:20:37Z</dcterms:created>
  <dcterms:modified xsi:type="dcterms:W3CDTF">2025-11-27T14:16:53Z</dcterms:modified>
  <cp:category>Research Poster</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0x010100C8F9F0EBF511CE45A79FBB72A52630DC</vt:lpwstr>
  </property>
</Properties>
</file>